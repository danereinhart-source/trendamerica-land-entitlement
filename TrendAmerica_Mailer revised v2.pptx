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9A227"/>
    <a:srgbClr val="0D28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69"/>
    <p:restoredTop sz="94675"/>
  </p:normalViewPr>
  <p:slideViewPr>
    <p:cSldViewPr snapToGrid="0" snapToObjects="1">
      <p:cViewPr>
        <p:scale>
          <a:sx n="174" d="100"/>
          <a:sy n="174" d="100"/>
        </p:scale>
        <p:origin x="944" y="-59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6.jpg"/><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 y="215153"/>
            <a:ext cx="7772400" cy="10058400"/>
          </a:xfrm>
          <a:prstGeom prst="rect">
            <a:avLst/>
          </a:prstGeom>
          <a:solidFill>
            <a:srgbClr val="0D28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29768" y="284964"/>
            <a:ext cx="6858000" cy="553998"/>
          </a:xfrm>
          <a:prstGeom prst="rect">
            <a:avLst/>
          </a:prstGeom>
          <a:noFill/>
        </p:spPr>
        <p:txBody>
          <a:bodyPr wrap="square" lIns="0" tIns="0" rIns="0" bIns="0" anchor="t">
            <a:spAutoFit/>
          </a:bodyPr>
          <a:lstStyle/>
          <a:p>
            <a:pPr algn="ctr"/>
            <a:r>
              <a:rPr sz="3600" b="1" dirty="0">
                <a:solidFill>
                  <a:srgbClr val="FFFFFF"/>
                </a:solidFill>
                <a:latin typeface="Arial"/>
              </a:rPr>
              <a:t>TREND</a:t>
            </a:r>
            <a:r>
              <a:rPr sz="3600" b="1" dirty="0">
                <a:solidFill>
                  <a:srgbClr val="C9A227"/>
                </a:solidFill>
                <a:latin typeface="Arial"/>
              </a:rPr>
              <a:t>AMERICA</a:t>
            </a:r>
          </a:p>
        </p:txBody>
      </p:sp>
      <p:sp>
        <p:nvSpPr>
          <p:cNvPr id="4" name="TextBox 3"/>
          <p:cNvSpPr txBox="1"/>
          <p:nvPr/>
        </p:nvSpPr>
        <p:spPr>
          <a:xfrm>
            <a:off x="457200" y="841345"/>
            <a:ext cx="6858000" cy="215444"/>
          </a:xfrm>
          <a:prstGeom prst="rect">
            <a:avLst/>
          </a:prstGeom>
          <a:noFill/>
        </p:spPr>
        <p:txBody>
          <a:bodyPr wrap="square" lIns="0" tIns="0" rIns="0" bIns="0" anchor="t">
            <a:spAutoFit/>
          </a:bodyPr>
          <a:lstStyle/>
          <a:p>
            <a:pPr algn="ctr"/>
            <a:r>
              <a:rPr sz="1400" b="1" dirty="0">
                <a:solidFill>
                  <a:srgbClr val="C9A227"/>
                </a:solidFill>
                <a:latin typeface="Arial"/>
              </a:rPr>
              <a:t>C A L I F O R N I A   R E S I D E N T I A L   L A N </a:t>
            </a:r>
            <a:r>
              <a:rPr lang="en-US" sz="1400" b="1" dirty="0">
                <a:solidFill>
                  <a:srgbClr val="C9A227"/>
                </a:solidFill>
                <a:latin typeface="Arial"/>
              </a:rPr>
              <a:t>D   D E V E L O P M E N T</a:t>
            </a:r>
            <a:endParaRPr sz="1400" b="1" dirty="0">
              <a:solidFill>
                <a:srgbClr val="C9A227"/>
              </a:solidFill>
              <a:latin typeface="Arial"/>
            </a:endParaRPr>
          </a:p>
        </p:txBody>
      </p:sp>
      <p:sp>
        <p:nvSpPr>
          <p:cNvPr id="5" name="Rounded Rectangle 4"/>
          <p:cNvSpPr/>
          <p:nvPr/>
        </p:nvSpPr>
        <p:spPr>
          <a:xfrm>
            <a:off x="502920" y="1143000"/>
            <a:ext cx="6766560" cy="1234440"/>
          </a:xfrm>
          <a:prstGeom prst="roundRect">
            <a:avLst>
              <a:gd name="adj" fmla="val 7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282608"/>
            <a:ext cx="6400800" cy="184666"/>
          </a:xfrm>
          <a:prstGeom prst="rect">
            <a:avLst/>
          </a:prstGeom>
          <a:noFill/>
        </p:spPr>
        <p:txBody>
          <a:bodyPr wrap="square" lIns="0" tIns="0" rIns="0" bIns="0" anchor="t">
            <a:spAutoFit/>
          </a:bodyPr>
          <a:lstStyle/>
          <a:p>
            <a:pPr algn="ctr"/>
            <a:r>
              <a:rPr sz="1200" b="1" dirty="0">
                <a:solidFill>
                  <a:schemeClr val="bg1"/>
                </a:solidFill>
                <a:latin typeface="Arial"/>
              </a:rPr>
              <a:t>I N V E S T M E N T   O P P O R T U N I T Y</a:t>
            </a:r>
          </a:p>
        </p:txBody>
      </p:sp>
      <p:sp>
        <p:nvSpPr>
          <p:cNvPr id="7" name="TextBox 6"/>
          <p:cNvSpPr txBox="1"/>
          <p:nvPr/>
        </p:nvSpPr>
        <p:spPr>
          <a:xfrm>
            <a:off x="685800" y="1529334"/>
            <a:ext cx="6400800" cy="457200"/>
          </a:xfrm>
          <a:prstGeom prst="rect">
            <a:avLst/>
          </a:prstGeom>
          <a:noFill/>
        </p:spPr>
        <p:txBody>
          <a:bodyPr wrap="square" lIns="0" tIns="0" rIns="0" bIns="0" anchor="t">
            <a:spAutoFit/>
          </a:bodyPr>
          <a:lstStyle/>
          <a:p>
            <a:pPr algn="ctr"/>
            <a:r>
              <a:rPr sz="2800" b="1" dirty="0">
                <a:solidFill>
                  <a:srgbClr val="0D2847"/>
                </a:solidFill>
                <a:latin typeface="Arial"/>
              </a:rPr>
              <a:t>20% Preferred Return</a:t>
            </a:r>
          </a:p>
        </p:txBody>
      </p:sp>
      <p:sp>
        <p:nvSpPr>
          <p:cNvPr id="8" name="TextBox 7"/>
          <p:cNvSpPr txBox="1"/>
          <p:nvPr/>
        </p:nvSpPr>
        <p:spPr>
          <a:xfrm>
            <a:off x="658368" y="2015914"/>
            <a:ext cx="6455664" cy="218586"/>
          </a:xfrm>
          <a:prstGeom prst="rect">
            <a:avLst/>
          </a:prstGeom>
          <a:noFill/>
        </p:spPr>
        <p:txBody>
          <a:bodyPr wrap="square" lIns="0" tIns="0" rIns="0" bIns="0" anchor="t">
            <a:spAutoFit/>
          </a:bodyPr>
          <a:lstStyle/>
          <a:p>
            <a:pPr algn="ctr">
              <a:lnSpc>
                <a:spcPct val="110000"/>
              </a:lnSpc>
            </a:pPr>
            <a:r>
              <a:rPr lang="en-US" sz="1400" b="0" dirty="0">
                <a:solidFill>
                  <a:schemeClr val="bg1"/>
                </a:solidFill>
                <a:latin typeface="Arial"/>
              </a:rPr>
              <a:t>W</a:t>
            </a:r>
            <a:r>
              <a:rPr sz="1400" b="0" dirty="0">
                <a:solidFill>
                  <a:schemeClr val="bg1"/>
                </a:solidFill>
                <a:latin typeface="Arial"/>
              </a:rPr>
              <a:t>ith </a:t>
            </a:r>
            <a:r>
              <a:rPr lang="en-US" sz="1400" dirty="0">
                <a:solidFill>
                  <a:schemeClr val="bg1"/>
                </a:solidFill>
                <a:latin typeface="Arial"/>
              </a:rPr>
              <a:t>additional</a:t>
            </a:r>
            <a:r>
              <a:rPr lang="en-US" sz="1400" b="0" dirty="0">
                <a:solidFill>
                  <a:schemeClr val="bg1"/>
                </a:solidFill>
                <a:latin typeface="Arial"/>
              </a:rPr>
              <a:t> </a:t>
            </a:r>
            <a:r>
              <a:rPr sz="1400" b="1" i="1" dirty="0">
                <a:solidFill>
                  <a:srgbClr val="0D2847"/>
                </a:solidFill>
                <a:latin typeface="Arial"/>
              </a:rPr>
              <a:t>uncapped</a:t>
            </a:r>
            <a:r>
              <a:rPr sz="1400" b="0" dirty="0">
                <a:solidFill>
                  <a:srgbClr val="0D2847"/>
                </a:solidFill>
                <a:latin typeface="Arial"/>
              </a:rPr>
              <a:t> </a:t>
            </a:r>
            <a:r>
              <a:rPr sz="1400" b="1" i="1" dirty="0">
                <a:solidFill>
                  <a:srgbClr val="0D2847"/>
                </a:solidFill>
                <a:latin typeface="Arial"/>
              </a:rPr>
              <a:t>upside</a:t>
            </a:r>
            <a:r>
              <a:rPr sz="1400" b="0" dirty="0">
                <a:solidFill>
                  <a:schemeClr val="bg1"/>
                </a:solidFill>
                <a:latin typeface="Arial"/>
              </a:rPr>
              <a:t> through a </a:t>
            </a:r>
            <a:r>
              <a:rPr sz="1400" b="1" i="1" dirty="0">
                <a:solidFill>
                  <a:srgbClr val="0D2847"/>
                </a:solidFill>
                <a:latin typeface="Arial"/>
              </a:rPr>
              <a:t>performance-based</a:t>
            </a:r>
            <a:r>
              <a:rPr sz="1400" b="0" dirty="0">
                <a:solidFill>
                  <a:schemeClr val="bg1"/>
                </a:solidFill>
                <a:latin typeface="Arial"/>
              </a:rPr>
              <a:t> profit structure</a:t>
            </a:r>
          </a:p>
        </p:txBody>
      </p:sp>
      <p:sp>
        <p:nvSpPr>
          <p:cNvPr id="9" name="TextBox 8"/>
          <p:cNvSpPr txBox="1"/>
          <p:nvPr/>
        </p:nvSpPr>
        <p:spPr>
          <a:xfrm>
            <a:off x="512064" y="2534300"/>
            <a:ext cx="6766560" cy="246221"/>
          </a:xfrm>
          <a:prstGeom prst="rect">
            <a:avLst/>
          </a:prstGeom>
          <a:noFill/>
        </p:spPr>
        <p:txBody>
          <a:bodyPr wrap="square" lIns="0" tIns="0" rIns="0" bIns="0" anchor="t">
            <a:spAutoFit/>
          </a:bodyPr>
          <a:lstStyle/>
          <a:p>
            <a:pPr algn="ctr"/>
            <a:r>
              <a:rPr sz="1600" b="1" dirty="0">
                <a:solidFill>
                  <a:srgbClr val="C9A227"/>
                </a:solidFill>
                <a:latin typeface="Arial"/>
              </a:rPr>
              <a:t>WHY NOW?  CALIFORNIA'S HOUSING SHORTAGE CRISIS</a:t>
            </a:r>
          </a:p>
        </p:txBody>
      </p:sp>
      <p:sp>
        <p:nvSpPr>
          <p:cNvPr id="10" name="Rectangle 9"/>
          <p:cNvSpPr/>
          <p:nvPr/>
        </p:nvSpPr>
        <p:spPr>
          <a:xfrm>
            <a:off x="502920" y="2834640"/>
            <a:ext cx="6766560" cy="1143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926080"/>
            <a:ext cx="6784848" cy="567463"/>
          </a:xfrm>
          <a:prstGeom prst="rect">
            <a:avLst/>
          </a:prstGeom>
          <a:noFill/>
        </p:spPr>
        <p:txBody>
          <a:bodyPr wrap="square" lIns="0" tIns="0" rIns="0" bIns="0" anchor="t">
            <a:spAutoFit/>
          </a:bodyPr>
          <a:lstStyle/>
          <a:p>
            <a:pPr algn="ctr">
              <a:lnSpc>
                <a:spcPct val="115000"/>
              </a:lnSpc>
            </a:pPr>
            <a:r>
              <a:rPr sz="1100" b="0" dirty="0">
                <a:solidFill>
                  <a:srgbClr val="DCE2EC"/>
                </a:solidFill>
                <a:latin typeface="Arial"/>
              </a:rPr>
              <a:t>California has accumulated an unmet housing backlog of nearly </a:t>
            </a:r>
            <a:r>
              <a:rPr lang="en-US" sz="1100" b="1" dirty="0">
                <a:solidFill>
                  <a:srgbClr val="C9A227"/>
                </a:solidFill>
                <a:latin typeface="Arial"/>
              </a:rPr>
              <a:t>2 million </a:t>
            </a:r>
            <a:r>
              <a:rPr sz="1100" b="1" dirty="0">
                <a:solidFill>
                  <a:srgbClr val="C9A227"/>
                </a:solidFill>
                <a:latin typeface="Arial"/>
              </a:rPr>
              <a:t>units</a:t>
            </a:r>
            <a:r>
              <a:rPr sz="1100" b="0" dirty="0">
                <a:solidFill>
                  <a:srgbClr val="C9A227"/>
                </a:solidFill>
                <a:latin typeface="Arial"/>
              </a:rPr>
              <a:t> </a:t>
            </a:r>
            <a:endParaRPr lang="en-US" sz="1100" b="0" dirty="0">
              <a:solidFill>
                <a:srgbClr val="C9A227"/>
              </a:solidFill>
              <a:latin typeface="Arial"/>
            </a:endParaRPr>
          </a:p>
          <a:p>
            <a:pPr algn="ctr">
              <a:lnSpc>
                <a:spcPct val="115000"/>
              </a:lnSpc>
            </a:pPr>
            <a:r>
              <a:rPr sz="1100" b="0" dirty="0">
                <a:solidFill>
                  <a:srgbClr val="DCE2EC"/>
                </a:solidFill>
                <a:latin typeface="Arial"/>
              </a:rPr>
              <a:t>and must provide at least </a:t>
            </a:r>
            <a:r>
              <a:rPr lang="en-US" sz="1100" b="0" dirty="0">
                <a:solidFill>
                  <a:srgbClr val="DCE2EC"/>
                </a:solidFill>
                <a:latin typeface="Arial"/>
              </a:rPr>
              <a:t> </a:t>
            </a:r>
            <a:r>
              <a:rPr lang="en-US" sz="1100" b="1" dirty="0">
                <a:solidFill>
                  <a:srgbClr val="C9A227"/>
                </a:solidFill>
                <a:latin typeface="Arial"/>
              </a:rPr>
              <a:t>180,000</a:t>
            </a:r>
            <a:r>
              <a:rPr lang="en-US" sz="1100" b="1" i="1" dirty="0">
                <a:solidFill>
                  <a:srgbClr val="DCE2EC"/>
                </a:solidFill>
                <a:latin typeface="Arial"/>
              </a:rPr>
              <a:t> </a:t>
            </a:r>
            <a:r>
              <a:rPr sz="1100" b="1" dirty="0">
                <a:solidFill>
                  <a:srgbClr val="C9A227"/>
                </a:solidFill>
                <a:latin typeface="Arial"/>
              </a:rPr>
              <a:t>new homes annually</a:t>
            </a:r>
            <a:r>
              <a:rPr sz="1100" b="0" dirty="0">
                <a:solidFill>
                  <a:srgbClr val="DCE2EC"/>
                </a:solidFill>
                <a:latin typeface="Arial"/>
              </a:rPr>
              <a:t> — yet only</a:t>
            </a:r>
            <a:r>
              <a:rPr lang="en-US" sz="1100" b="0" dirty="0">
                <a:solidFill>
                  <a:srgbClr val="DCE2EC"/>
                </a:solidFill>
                <a:latin typeface="Arial"/>
              </a:rPr>
              <a:t> about </a:t>
            </a:r>
            <a:r>
              <a:rPr sz="1100" b="0" dirty="0">
                <a:solidFill>
                  <a:srgbClr val="DCE2EC"/>
                </a:solidFill>
                <a:latin typeface="Arial"/>
              </a:rPr>
              <a:t>80,000 are built each year. </a:t>
            </a:r>
            <a:endParaRPr lang="en-US" sz="1100" b="0" dirty="0">
              <a:solidFill>
                <a:srgbClr val="DCE2EC"/>
              </a:solidFill>
              <a:latin typeface="Arial"/>
            </a:endParaRPr>
          </a:p>
          <a:p>
            <a:pPr algn="ctr">
              <a:lnSpc>
                <a:spcPct val="115000"/>
              </a:lnSpc>
            </a:pPr>
            <a:r>
              <a:rPr sz="1100" b="0" dirty="0">
                <a:solidFill>
                  <a:srgbClr val="DCE2EC"/>
                </a:solidFill>
                <a:latin typeface="Arial"/>
              </a:rPr>
              <a:t>Homebuilders are racing to acquire entitled land, and </a:t>
            </a:r>
            <a:r>
              <a:rPr sz="1100" b="1" dirty="0" err="1">
                <a:solidFill>
                  <a:srgbClr val="C9A227"/>
                </a:solidFill>
                <a:latin typeface="Arial"/>
              </a:rPr>
              <a:t>TrendAmerica</a:t>
            </a:r>
            <a:r>
              <a:rPr sz="1100" b="1" dirty="0">
                <a:solidFill>
                  <a:srgbClr val="C9A227"/>
                </a:solidFill>
                <a:latin typeface="Arial"/>
              </a:rPr>
              <a:t> delivers it.</a:t>
            </a:r>
          </a:p>
        </p:txBody>
      </p:sp>
      <p:sp>
        <p:nvSpPr>
          <p:cNvPr id="12" name="TextBox 11"/>
          <p:cNvSpPr txBox="1"/>
          <p:nvPr/>
        </p:nvSpPr>
        <p:spPr>
          <a:xfrm>
            <a:off x="502920" y="3591278"/>
            <a:ext cx="6766560" cy="246221"/>
          </a:xfrm>
          <a:prstGeom prst="rect">
            <a:avLst/>
          </a:prstGeom>
          <a:noFill/>
        </p:spPr>
        <p:txBody>
          <a:bodyPr wrap="square" lIns="0" tIns="0" rIns="0" bIns="0" anchor="t">
            <a:spAutoFit/>
          </a:bodyPr>
          <a:lstStyle/>
          <a:p>
            <a:pPr algn="ctr"/>
            <a:r>
              <a:rPr sz="1600" b="1" dirty="0">
                <a:solidFill>
                  <a:srgbClr val="C9A227"/>
                </a:solidFill>
                <a:latin typeface="Arial"/>
              </a:rPr>
              <a:t>OUR FOUR-STEP MODEL</a:t>
            </a:r>
          </a:p>
        </p:txBody>
      </p:sp>
      <p:grpSp>
        <p:nvGrpSpPr>
          <p:cNvPr id="62" name="Group 61">
            <a:extLst>
              <a:ext uri="{FF2B5EF4-FFF2-40B4-BE49-F238E27FC236}">
                <a16:creationId xmlns:a16="http://schemas.microsoft.com/office/drawing/2014/main" id="{A2D16CA0-A50F-2CBD-081F-BB8452357E8B}"/>
              </a:ext>
            </a:extLst>
          </p:cNvPr>
          <p:cNvGrpSpPr/>
          <p:nvPr/>
        </p:nvGrpSpPr>
        <p:grpSpPr>
          <a:xfrm>
            <a:off x="201370" y="3869267"/>
            <a:ext cx="1627632" cy="1298448"/>
            <a:chOff x="406908" y="3782014"/>
            <a:chExt cx="1627632" cy="1298448"/>
          </a:xfrm>
        </p:grpSpPr>
        <p:sp>
          <p:nvSpPr>
            <p:cNvPr id="13" name="Rounded Rectangle 12"/>
            <p:cNvSpPr/>
            <p:nvPr/>
          </p:nvSpPr>
          <p:spPr>
            <a:xfrm>
              <a:off x="406908" y="3782014"/>
              <a:ext cx="1627632" cy="1298448"/>
            </a:xfrm>
            <a:prstGeom prst="roundRect">
              <a:avLst>
                <a:gd name="adj" fmla="val 10000"/>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65276" y="3920490"/>
              <a:ext cx="310896" cy="310896"/>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D2847"/>
                  </a:solidFill>
                  <a:latin typeface="Arial"/>
                </a:rPr>
                <a:t>1</a:t>
              </a:r>
            </a:p>
          </p:txBody>
        </p:sp>
        <p:sp>
          <p:nvSpPr>
            <p:cNvPr id="15" name="TextBox 14"/>
            <p:cNvSpPr txBox="1"/>
            <p:nvPr/>
          </p:nvSpPr>
          <p:spPr>
            <a:xfrm>
              <a:off x="457200" y="4297680"/>
              <a:ext cx="1517904" cy="219456"/>
            </a:xfrm>
            <a:prstGeom prst="rect">
              <a:avLst/>
            </a:prstGeom>
            <a:noFill/>
          </p:spPr>
          <p:txBody>
            <a:bodyPr wrap="square" lIns="0" tIns="0" rIns="0" bIns="0" anchor="t">
              <a:spAutoFit/>
            </a:bodyPr>
            <a:lstStyle/>
            <a:p>
              <a:pPr algn="ctr"/>
              <a:r>
                <a:rPr sz="1050" b="1" dirty="0">
                  <a:solidFill>
                    <a:srgbClr val="C9A227"/>
                  </a:solidFill>
                  <a:latin typeface="Arial"/>
                </a:rPr>
                <a:t>CONTROL IT</a:t>
              </a:r>
            </a:p>
          </p:txBody>
        </p:sp>
        <p:sp>
          <p:nvSpPr>
            <p:cNvPr id="16" name="TextBox 15"/>
            <p:cNvSpPr txBox="1"/>
            <p:nvPr/>
          </p:nvSpPr>
          <p:spPr>
            <a:xfrm>
              <a:off x="502920" y="4546516"/>
              <a:ext cx="1408176" cy="264624"/>
            </a:xfrm>
            <a:prstGeom prst="rect">
              <a:avLst/>
            </a:prstGeom>
            <a:noFill/>
          </p:spPr>
          <p:txBody>
            <a:bodyPr wrap="square" lIns="0" tIns="0" rIns="0" bIns="0" anchor="t">
              <a:spAutoFit/>
            </a:bodyPr>
            <a:lstStyle/>
            <a:p>
              <a:pPr algn="ctr">
                <a:lnSpc>
                  <a:spcPct val="112000"/>
                </a:lnSpc>
              </a:pPr>
              <a:r>
                <a:rPr sz="800" b="1" dirty="0">
                  <a:solidFill>
                    <a:srgbClr val="DCE2EC"/>
                  </a:solidFill>
                  <a:latin typeface="Arial"/>
                </a:rPr>
                <a:t>Secure land via option agreement — not ownership</a:t>
              </a:r>
            </a:p>
          </p:txBody>
        </p:sp>
      </p:grpSp>
      <p:grpSp>
        <p:nvGrpSpPr>
          <p:cNvPr id="59" name="Group 58">
            <a:extLst>
              <a:ext uri="{FF2B5EF4-FFF2-40B4-BE49-F238E27FC236}">
                <a16:creationId xmlns:a16="http://schemas.microsoft.com/office/drawing/2014/main" id="{FDD38BB6-864D-C3CD-590B-B5C19E0F1134}"/>
              </a:ext>
            </a:extLst>
          </p:cNvPr>
          <p:cNvGrpSpPr/>
          <p:nvPr/>
        </p:nvGrpSpPr>
        <p:grpSpPr>
          <a:xfrm>
            <a:off x="2147689" y="3878048"/>
            <a:ext cx="1627632" cy="1298448"/>
            <a:chOff x="2221992" y="3822191"/>
            <a:chExt cx="1627632" cy="1298448"/>
          </a:xfrm>
        </p:grpSpPr>
        <p:sp>
          <p:nvSpPr>
            <p:cNvPr id="18" name="Rounded Rectangle 17"/>
            <p:cNvSpPr>
              <a:spLocks/>
            </p:cNvSpPr>
            <p:nvPr/>
          </p:nvSpPr>
          <p:spPr>
            <a:xfrm>
              <a:off x="2221992" y="3822191"/>
              <a:ext cx="1627632" cy="1298448"/>
            </a:xfrm>
            <a:prstGeom prst="roundRect">
              <a:avLst>
                <a:gd name="adj" fmla="val 10000"/>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9" name="Oval 18"/>
            <p:cNvSpPr>
              <a:spLocks/>
            </p:cNvSpPr>
            <p:nvPr/>
          </p:nvSpPr>
          <p:spPr>
            <a:xfrm>
              <a:off x="2880360" y="3913631"/>
              <a:ext cx="310896" cy="310896"/>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0D2847"/>
                  </a:solidFill>
                  <a:latin typeface="Arial"/>
                </a:rPr>
                <a:t>2</a:t>
              </a:r>
            </a:p>
          </p:txBody>
        </p:sp>
        <p:sp>
          <p:nvSpPr>
            <p:cNvPr id="20" name="TextBox 19"/>
            <p:cNvSpPr txBox="1">
              <a:spLocks/>
            </p:cNvSpPr>
            <p:nvPr/>
          </p:nvSpPr>
          <p:spPr>
            <a:xfrm>
              <a:off x="2301595" y="4290821"/>
              <a:ext cx="1517904" cy="219456"/>
            </a:xfrm>
            <a:prstGeom prst="rect">
              <a:avLst/>
            </a:prstGeom>
            <a:noFill/>
          </p:spPr>
          <p:txBody>
            <a:bodyPr wrap="square" lIns="0" tIns="0" rIns="0" bIns="0" anchor="t">
              <a:spAutoFit/>
            </a:bodyPr>
            <a:lstStyle/>
            <a:p>
              <a:pPr algn="ctr"/>
              <a:r>
                <a:rPr sz="1050" b="1" dirty="0">
                  <a:solidFill>
                    <a:srgbClr val="C9A227"/>
                  </a:solidFill>
                  <a:latin typeface="Arial"/>
                </a:rPr>
                <a:t>ENTITLE IT</a:t>
              </a:r>
            </a:p>
          </p:txBody>
        </p:sp>
        <p:sp>
          <p:nvSpPr>
            <p:cNvPr id="21" name="TextBox 20"/>
            <p:cNvSpPr txBox="1">
              <a:spLocks/>
            </p:cNvSpPr>
            <p:nvPr/>
          </p:nvSpPr>
          <p:spPr>
            <a:xfrm>
              <a:off x="2331720" y="4553711"/>
              <a:ext cx="1408176" cy="402482"/>
            </a:xfrm>
            <a:prstGeom prst="rect">
              <a:avLst/>
            </a:prstGeom>
            <a:noFill/>
          </p:spPr>
          <p:txBody>
            <a:bodyPr wrap="square" lIns="0" tIns="0" rIns="0" bIns="0" anchor="t">
              <a:spAutoFit/>
            </a:bodyPr>
            <a:lstStyle/>
            <a:p>
              <a:pPr algn="ctr">
                <a:lnSpc>
                  <a:spcPct val="112000"/>
                </a:lnSpc>
              </a:pPr>
              <a:r>
                <a:rPr sz="800" b="1" dirty="0">
                  <a:solidFill>
                    <a:srgbClr val="DCE2EC"/>
                  </a:solidFill>
                  <a:latin typeface="Arial"/>
                </a:rPr>
                <a:t>Navigate City/County subdivision map approval process</a:t>
              </a:r>
            </a:p>
          </p:txBody>
        </p:sp>
      </p:grpSp>
      <p:grpSp>
        <p:nvGrpSpPr>
          <p:cNvPr id="60" name="Group 59">
            <a:extLst>
              <a:ext uri="{FF2B5EF4-FFF2-40B4-BE49-F238E27FC236}">
                <a16:creationId xmlns:a16="http://schemas.microsoft.com/office/drawing/2014/main" id="{84215FC7-87EA-05AE-3DD4-D94E6FA84750}"/>
              </a:ext>
            </a:extLst>
          </p:cNvPr>
          <p:cNvGrpSpPr/>
          <p:nvPr/>
        </p:nvGrpSpPr>
        <p:grpSpPr>
          <a:xfrm>
            <a:off x="4058721" y="3873905"/>
            <a:ext cx="1627632" cy="1298448"/>
            <a:chOff x="3941064" y="3822191"/>
            <a:chExt cx="1627632" cy="1298448"/>
          </a:xfrm>
        </p:grpSpPr>
        <p:sp>
          <p:nvSpPr>
            <p:cNvPr id="23" name="Rounded Rectangle 22"/>
            <p:cNvSpPr/>
            <p:nvPr/>
          </p:nvSpPr>
          <p:spPr>
            <a:xfrm>
              <a:off x="3941064" y="3822191"/>
              <a:ext cx="1627632" cy="1298448"/>
            </a:xfrm>
            <a:prstGeom prst="roundRect">
              <a:avLst>
                <a:gd name="adj" fmla="val 10000"/>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4599432" y="3913631"/>
              <a:ext cx="310896" cy="310896"/>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0D2847"/>
                  </a:solidFill>
                  <a:latin typeface="Arial"/>
                </a:rPr>
                <a:t>3</a:t>
              </a:r>
            </a:p>
          </p:txBody>
        </p:sp>
        <p:sp>
          <p:nvSpPr>
            <p:cNvPr id="25" name="TextBox 24"/>
            <p:cNvSpPr txBox="1"/>
            <p:nvPr/>
          </p:nvSpPr>
          <p:spPr>
            <a:xfrm>
              <a:off x="3995928" y="4297679"/>
              <a:ext cx="1517904" cy="219456"/>
            </a:xfrm>
            <a:prstGeom prst="rect">
              <a:avLst/>
            </a:prstGeom>
            <a:noFill/>
          </p:spPr>
          <p:txBody>
            <a:bodyPr wrap="square" lIns="0" tIns="0" rIns="0" bIns="0" anchor="t">
              <a:spAutoFit/>
            </a:bodyPr>
            <a:lstStyle/>
            <a:p>
              <a:pPr algn="ctr"/>
              <a:r>
                <a:rPr sz="1050" b="1">
                  <a:solidFill>
                    <a:srgbClr val="C9A227"/>
                  </a:solidFill>
                  <a:latin typeface="Arial"/>
                </a:rPr>
                <a:t>SELL IT</a:t>
              </a:r>
            </a:p>
          </p:txBody>
        </p:sp>
        <p:sp>
          <p:nvSpPr>
            <p:cNvPr id="26" name="TextBox 25"/>
            <p:cNvSpPr txBox="1"/>
            <p:nvPr/>
          </p:nvSpPr>
          <p:spPr>
            <a:xfrm>
              <a:off x="4050792" y="4553711"/>
              <a:ext cx="1408176" cy="402482"/>
            </a:xfrm>
            <a:prstGeom prst="rect">
              <a:avLst/>
            </a:prstGeom>
            <a:noFill/>
          </p:spPr>
          <p:txBody>
            <a:bodyPr wrap="square" lIns="0" tIns="0" rIns="0" bIns="0" anchor="t">
              <a:spAutoFit/>
            </a:bodyPr>
            <a:lstStyle/>
            <a:p>
              <a:pPr algn="ctr">
                <a:lnSpc>
                  <a:spcPct val="112000"/>
                </a:lnSpc>
              </a:pPr>
              <a:r>
                <a:rPr sz="800" b="1" dirty="0">
                  <a:solidFill>
                    <a:srgbClr val="DCE2EC"/>
                  </a:solidFill>
                  <a:latin typeface="Arial"/>
                </a:rPr>
                <a:t>Flip entitled land to homebuilder via double escrow</a:t>
              </a:r>
            </a:p>
          </p:txBody>
        </p:sp>
      </p:grpSp>
      <p:grpSp>
        <p:nvGrpSpPr>
          <p:cNvPr id="61" name="Group 60">
            <a:extLst>
              <a:ext uri="{FF2B5EF4-FFF2-40B4-BE49-F238E27FC236}">
                <a16:creationId xmlns:a16="http://schemas.microsoft.com/office/drawing/2014/main" id="{A67F2D73-000E-0C9A-40C2-07713DEF21A7}"/>
              </a:ext>
            </a:extLst>
          </p:cNvPr>
          <p:cNvGrpSpPr/>
          <p:nvPr/>
        </p:nvGrpSpPr>
        <p:grpSpPr>
          <a:xfrm>
            <a:off x="5969753" y="3873905"/>
            <a:ext cx="1627632" cy="1298448"/>
            <a:chOff x="5660136" y="3822191"/>
            <a:chExt cx="1627632" cy="1298448"/>
          </a:xfrm>
        </p:grpSpPr>
        <p:sp>
          <p:nvSpPr>
            <p:cNvPr id="28" name="Rounded Rectangle 27"/>
            <p:cNvSpPr/>
            <p:nvPr/>
          </p:nvSpPr>
          <p:spPr>
            <a:xfrm>
              <a:off x="5660136" y="3822191"/>
              <a:ext cx="1627632" cy="1298448"/>
            </a:xfrm>
            <a:prstGeom prst="roundRect">
              <a:avLst>
                <a:gd name="adj" fmla="val 10000"/>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318504" y="3913631"/>
              <a:ext cx="310896" cy="310896"/>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D2847"/>
                  </a:solidFill>
                  <a:latin typeface="Arial"/>
                </a:rPr>
                <a:t>4</a:t>
              </a:r>
            </a:p>
          </p:txBody>
        </p:sp>
        <p:sp>
          <p:nvSpPr>
            <p:cNvPr id="30" name="TextBox 29"/>
            <p:cNvSpPr txBox="1"/>
            <p:nvPr/>
          </p:nvSpPr>
          <p:spPr>
            <a:xfrm>
              <a:off x="5715000" y="4297679"/>
              <a:ext cx="1517904" cy="219456"/>
            </a:xfrm>
            <a:prstGeom prst="rect">
              <a:avLst/>
            </a:prstGeom>
            <a:noFill/>
          </p:spPr>
          <p:txBody>
            <a:bodyPr wrap="square" lIns="0" tIns="0" rIns="0" bIns="0" anchor="t">
              <a:spAutoFit/>
            </a:bodyPr>
            <a:lstStyle/>
            <a:p>
              <a:pPr algn="ctr"/>
              <a:r>
                <a:rPr sz="1050" b="1">
                  <a:solidFill>
                    <a:srgbClr val="C9A227"/>
                  </a:solidFill>
                  <a:latin typeface="Arial"/>
                </a:rPr>
                <a:t>DISTRIBUTE</a:t>
              </a:r>
            </a:p>
          </p:txBody>
        </p:sp>
        <p:sp>
          <p:nvSpPr>
            <p:cNvPr id="31" name="TextBox 30"/>
            <p:cNvSpPr txBox="1"/>
            <p:nvPr/>
          </p:nvSpPr>
          <p:spPr>
            <a:xfrm>
              <a:off x="5769864" y="4553711"/>
              <a:ext cx="1408176" cy="402482"/>
            </a:xfrm>
            <a:prstGeom prst="rect">
              <a:avLst/>
            </a:prstGeom>
            <a:noFill/>
          </p:spPr>
          <p:txBody>
            <a:bodyPr wrap="square" lIns="0" tIns="0" rIns="0" bIns="0" anchor="t">
              <a:spAutoFit/>
            </a:bodyPr>
            <a:lstStyle/>
            <a:p>
              <a:pPr algn="ctr">
                <a:lnSpc>
                  <a:spcPct val="112000"/>
                </a:lnSpc>
              </a:pPr>
              <a:r>
                <a:rPr sz="800" b="1" dirty="0">
                  <a:solidFill>
                    <a:srgbClr val="DCE2EC"/>
                  </a:solidFill>
                  <a:latin typeface="Arial"/>
                </a:rPr>
                <a:t>Return capital and profits to investors under the project structure</a:t>
              </a:r>
            </a:p>
          </p:txBody>
        </p:sp>
      </p:grpSp>
      <p:sp>
        <p:nvSpPr>
          <p:cNvPr id="32" name="Rectangle 31"/>
          <p:cNvSpPr/>
          <p:nvPr/>
        </p:nvSpPr>
        <p:spPr>
          <a:xfrm>
            <a:off x="0" y="5358384"/>
            <a:ext cx="7772400" cy="71323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12500" y="5429268"/>
            <a:ext cx="1943100" cy="369332"/>
          </a:xfrm>
          <a:prstGeom prst="rect">
            <a:avLst/>
          </a:prstGeom>
          <a:noFill/>
        </p:spPr>
        <p:txBody>
          <a:bodyPr wrap="square" lIns="0" tIns="0" rIns="0" bIns="0" anchor="t">
            <a:spAutoFit/>
          </a:bodyPr>
          <a:lstStyle/>
          <a:p>
            <a:pPr algn="ctr"/>
            <a:r>
              <a:rPr sz="2400" b="1" dirty="0">
                <a:solidFill>
                  <a:srgbClr val="0D2847"/>
                </a:solidFill>
                <a:latin typeface="Arial"/>
              </a:rPr>
              <a:t>50+</a:t>
            </a:r>
          </a:p>
        </p:txBody>
      </p:sp>
      <p:sp>
        <p:nvSpPr>
          <p:cNvPr id="34" name="TextBox 33"/>
          <p:cNvSpPr txBox="1"/>
          <p:nvPr/>
        </p:nvSpPr>
        <p:spPr>
          <a:xfrm>
            <a:off x="-577653" y="5809456"/>
            <a:ext cx="3323405" cy="153888"/>
          </a:xfrm>
          <a:prstGeom prst="rect">
            <a:avLst/>
          </a:prstGeom>
          <a:noFill/>
        </p:spPr>
        <p:txBody>
          <a:bodyPr wrap="square" lIns="0" tIns="0" rIns="0" bIns="0" anchor="t">
            <a:spAutoFit/>
          </a:bodyPr>
          <a:lstStyle/>
          <a:p>
            <a:pPr algn="ctr">
              <a:lnSpc>
                <a:spcPct val="100000"/>
              </a:lnSpc>
            </a:pPr>
            <a:r>
              <a:rPr sz="1000" b="1" dirty="0">
                <a:solidFill>
                  <a:srgbClr val="0D2847"/>
                </a:solidFill>
                <a:latin typeface="Arial"/>
              </a:rPr>
              <a:t>Years Combined</a:t>
            </a:r>
            <a:r>
              <a:rPr lang="en-US" sz="1000" b="1" dirty="0">
                <a:solidFill>
                  <a:srgbClr val="0D2847"/>
                </a:solidFill>
                <a:latin typeface="Arial"/>
              </a:rPr>
              <a:t> </a:t>
            </a:r>
            <a:r>
              <a:rPr sz="1000" b="1" dirty="0">
                <a:solidFill>
                  <a:srgbClr val="0D2847"/>
                </a:solidFill>
                <a:latin typeface="Arial"/>
              </a:rPr>
              <a:t>Experience</a:t>
            </a:r>
          </a:p>
        </p:txBody>
      </p:sp>
      <p:sp>
        <p:nvSpPr>
          <p:cNvPr id="35" name="TextBox 34"/>
          <p:cNvSpPr txBox="1"/>
          <p:nvPr/>
        </p:nvSpPr>
        <p:spPr>
          <a:xfrm>
            <a:off x="2037444" y="5441180"/>
            <a:ext cx="1943100" cy="369332"/>
          </a:xfrm>
          <a:prstGeom prst="rect">
            <a:avLst/>
          </a:prstGeom>
          <a:noFill/>
        </p:spPr>
        <p:txBody>
          <a:bodyPr wrap="square" lIns="0" tIns="0" rIns="0" bIns="0" anchor="t">
            <a:spAutoFit/>
          </a:bodyPr>
          <a:lstStyle/>
          <a:p>
            <a:pPr algn="ctr"/>
            <a:r>
              <a:rPr sz="2400" b="1" dirty="0">
                <a:solidFill>
                  <a:srgbClr val="0D2847"/>
                </a:solidFill>
                <a:latin typeface="Arial"/>
              </a:rPr>
              <a:t>20+</a:t>
            </a:r>
          </a:p>
        </p:txBody>
      </p:sp>
      <p:sp>
        <p:nvSpPr>
          <p:cNvPr id="36" name="TextBox 35"/>
          <p:cNvSpPr txBox="1"/>
          <p:nvPr/>
        </p:nvSpPr>
        <p:spPr>
          <a:xfrm>
            <a:off x="2037444" y="5824086"/>
            <a:ext cx="1943100" cy="153888"/>
          </a:xfrm>
          <a:prstGeom prst="rect">
            <a:avLst/>
          </a:prstGeom>
          <a:noFill/>
        </p:spPr>
        <p:txBody>
          <a:bodyPr wrap="square" lIns="0" tIns="0" rIns="0" bIns="0" anchor="t">
            <a:spAutoFit/>
          </a:bodyPr>
          <a:lstStyle/>
          <a:p>
            <a:pPr algn="ctr">
              <a:lnSpc>
                <a:spcPct val="100000"/>
              </a:lnSpc>
            </a:pPr>
            <a:r>
              <a:rPr sz="1000" b="1" dirty="0">
                <a:solidFill>
                  <a:srgbClr val="0D2847"/>
                </a:solidFill>
                <a:latin typeface="Arial"/>
              </a:rPr>
              <a:t>Subdivision</a:t>
            </a:r>
            <a:r>
              <a:rPr lang="en-US" sz="1000" b="1" dirty="0">
                <a:solidFill>
                  <a:srgbClr val="0D2847"/>
                </a:solidFill>
                <a:latin typeface="Arial"/>
              </a:rPr>
              <a:t> Projects</a:t>
            </a:r>
            <a:endParaRPr sz="760" b="1" dirty="0">
              <a:solidFill>
                <a:srgbClr val="0D2847"/>
              </a:solidFill>
              <a:latin typeface="Arial"/>
            </a:endParaRPr>
          </a:p>
        </p:txBody>
      </p:sp>
      <p:sp>
        <p:nvSpPr>
          <p:cNvPr id="37" name="TextBox 36"/>
          <p:cNvSpPr txBox="1"/>
          <p:nvPr/>
        </p:nvSpPr>
        <p:spPr>
          <a:xfrm>
            <a:off x="3989688" y="5449781"/>
            <a:ext cx="1943100" cy="369332"/>
          </a:xfrm>
          <a:prstGeom prst="rect">
            <a:avLst/>
          </a:prstGeom>
          <a:noFill/>
        </p:spPr>
        <p:txBody>
          <a:bodyPr wrap="square" lIns="0" tIns="0" rIns="0" bIns="0" anchor="t">
            <a:spAutoFit/>
          </a:bodyPr>
          <a:lstStyle/>
          <a:p>
            <a:pPr algn="ctr"/>
            <a:r>
              <a:rPr sz="2400" b="1" dirty="0">
                <a:solidFill>
                  <a:srgbClr val="0D2847"/>
                </a:solidFill>
                <a:latin typeface="Arial"/>
              </a:rPr>
              <a:t>2,550+</a:t>
            </a:r>
          </a:p>
        </p:txBody>
      </p:sp>
      <p:sp>
        <p:nvSpPr>
          <p:cNvPr id="38" name="TextBox 37"/>
          <p:cNvSpPr txBox="1"/>
          <p:nvPr/>
        </p:nvSpPr>
        <p:spPr>
          <a:xfrm>
            <a:off x="3953660" y="5836357"/>
            <a:ext cx="1943100" cy="153888"/>
          </a:xfrm>
          <a:prstGeom prst="rect">
            <a:avLst/>
          </a:prstGeom>
          <a:noFill/>
        </p:spPr>
        <p:txBody>
          <a:bodyPr wrap="square" lIns="0" tIns="0" rIns="0" bIns="0" anchor="t">
            <a:spAutoFit/>
          </a:bodyPr>
          <a:lstStyle/>
          <a:p>
            <a:pPr algn="ctr">
              <a:lnSpc>
                <a:spcPct val="100000"/>
              </a:lnSpc>
            </a:pPr>
            <a:r>
              <a:rPr sz="1000" b="1" dirty="0">
                <a:solidFill>
                  <a:srgbClr val="0D2847"/>
                </a:solidFill>
                <a:latin typeface="Arial"/>
              </a:rPr>
              <a:t>Lots Entitled</a:t>
            </a:r>
          </a:p>
        </p:txBody>
      </p:sp>
      <p:sp>
        <p:nvSpPr>
          <p:cNvPr id="39" name="TextBox 38"/>
          <p:cNvSpPr txBox="1"/>
          <p:nvPr/>
        </p:nvSpPr>
        <p:spPr>
          <a:xfrm>
            <a:off x="5863030" y="5449781"/>
            <a:ext cx="1943100" cy="369332"/>
          </a:xfrm>
          <a:prstGeom prst="rect">
            <a:avLst/>
          </a:prstGeom>
          <a:noFill/>
        </p:spPr>
        <p:txBody>
          <a:bodyPr wrap="square" lIns="0" tIns="0" rIns="0" bIns="0" anchor="t">
            <a:spAutoFit/>
          </a:bodyPr>
          <a:lstStyle/>
          <a:p>
            <a:pPr algn="ctr"/>
            <a:r>
              <a:rPr sz="2400" b="1" dirty="0">
                <a:solidFill>
                  <a:srgbClr val="0D2847"/>
                </a:solidFill>
                <a:latin typeface="Arial"/>
              </a:rPr>
              <a:t>$1.3B+</a:t>
            </a:r>
          </a:p>
        </p:txBody>
      </p:sp>
      <p:sp>
        <p:nvSpPr>
          <p:cNvPr id="40" name="TextBox 39"/>
          <p:cNvSpPr txBox="1"/>
          <p:nvPr/>
        </p:nvSpPr>
        <p:spPr>
          <a:xfrm>
            <a:off x="5862184" y="5829703"/>
            <a:ext cx="1943100" cy="153888"/>
          </a:xfrm>
          <a:prstGeom prst="rect">
            <a:avLst/>
          </a:prstGeom>
          <a:noFill/>
        </p:spPr>
        <p:txBody>
          <a:bodyPr wrap="square" lIns="0" tIns="0" rIns="0" bIns="0" anchor="t">
            <a:spAutoFit/>
          </a:bodyPr>
          <a:lstStyle/>
          <a:p>
            <a:pPr algn="ctr">
              <a:lnSpc>
                <a:spcPct val="100000"/>
              </a:lnSpc>
            </a:pPr>
            <a:r>
              <a:rPr sz="1000" b="1" dirty="0">
                <a:solidFill>
                  <a:srgbClr val="0D2847"/>
                </a:solidFill>
                <a:latin typeface="Arial"/>
              </a:rPr>
              <a:t>Transaction Volume</a:t>
            </a:r>
          </a:p>
        </p:txBody>
      </p:sp>
      <p:sp>
        <p:nvSpPr>
          <p:cNvPr id="42" name="TextBox 41"/>
          <p:cNvSpPr txBox="1"/>
          <p:nvPr/>
        </p:nvSpPr>
        <p:spPr>
          <a:xfrm>
            <a:off x="521208" y="6180404"/>
            <a:ext cx="6766560" cy="276999"/>
          </a:xfrm>
          <a:prstGeom prst="rect">
            <a:avLst/>
          </a:prstGeom>
          <a:noFill/>
        </p:spPr>
        <p:txBody>
          <a:bodyPr wrap="square" lIns="0" tIns="0" rIns="0" bIns="0" anchor="t">
            <a:spAutoFit/>
          </a:bodyPr>
          <a:lstStyle/>
          <a:p>
            <a:pPr algn="ctr"/>
            <a:r>
              <a:rPr b="1" dirty="0">
                <a:solidFill>
                  <a:srgbClr val="C9A227"/>
                </a:solidFill>
                <a:latin typeface="Arial"/>
              </a:rPr>
              <a:t>WHY INVEST WITH TRENDAMERICA?</a:t>
            </a:r>
          </a:p>
        </p:txBody>
      </p:sp>
      <p:sp>
        <p:nvSpPr>
          <p:cNvPr id="43" name="Rectangle 42"/>
          <p:cNvSpPr/>
          <p:nvPr/>
        </p:nvSpPr>
        <p:spPr>
          <a:xfrm>
            <a:off x="512064" y="6493979"/>
            <a:ext cx="6766560" cy="1143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63163" y="6583981"/>
            <a:ext cx="3108960" cy="246221"/>
          </a:xfrm>
          <a:prstGeom prst="rect">
            <a:avLst/>
          </a:prstGeom>
          <a:noFill/>
        </p:spPr>
        <p:txBody>
          <a:bodyPr wrap="square" lIns="0" tIns="0" rIns="0" bIns="0" anchor="t">
            <a:spAutoFit/>
          </a:bodyPr>
          <a:lstStyle/>
          <a:p>
            <a:pPr algn="ctr"/>
            <a:r>
              <a:rPr sz="1100" b="0" dirty="0">
                <a:solidFill>
                  <a:srgbClr val="C9A227"/>
                </a:solidFill>
                <a:latin typeface="Arial"/>
              </a:rPr>
              <a:t>● </a:t>
            </a:r>
            <a:r>
              <a:rPr sz="1600" b="1" dirty="0">
                <a:solidFill>
                  <a:srgbClr val="FFFFFF"/>
                </a:solidFill>
                <a:latin typeface="Arial"/>
              </a:rPr>
              <a:t>No Shovels in the Ground</a:t>
            </a:r>
            <a:r>
              <a:rPr lang="en-US" sz="1400" b="1" dirty="0">
                <a:solidFill>
                  <a:srgbClr val="FFFFFF"/>
                </a:solidFill>
                <a:latin typeface="Arial"/>
              </a:rPr>
              <a:t> </a:t>
            </a:r>
            <a:r>
              <a:rPr lang="en-US" sz="1100" dirty="0">
                <a:solidFill>
                  <a:srgbClr val="C9A227"/>
                </a:solidFill>
                <a:latin typeface="Arial"/>
              </a:rPr>
              <a:t>●</a:t>
            </a:r>
            <a:endParaRPr sz="1100" b="1" dirty="0">
              <a:solidFill>
                <a:srgbClr val="FFFFFF"/>
              </a:solidFill>
              <a:latin typeface="Arial"/>
            </a:endParaRPr>
          </a:p>
        </p:txBody>
      </p:sp>
      <p:sp>
        <p:nvSpPr>
          <p:cNvPr id="45" name="TextBox 44"/>
          <p:cNvSpPr txBox="1"/>
          <p:nvPr/>
        </p:nvSpPr>
        <p:spPr>
          <a:xfrm>
            <a:off x="406908" y="6913419"/>
            <a:ext cx="3379287" cy="503151"/>
          </a:xfrm>
          <a:prstGeom prst="rect">
            <a:avLst/>
          </a:prstGeom>
          <a:noFill/>
        </p:spPr>
        <p:txBody>
          <a:bodyPr wrap="square" lIns="0" tIns="0" rIns="0" bIns="0" anchor="t">
            <a:spAutoFit/>
          </a:bodyPr>
          <a:lstStyle/>
          <a:p>
            <a:pPr algn="ctr">
              <a:lnSpc>
                <a:spcPct val="112000"/>
              </a:lnSpc>
            </a:pPr>
            <a:r>
              <a:rPr sz="1000" b="0" dirty="0">
                <a:solidFill>
                  <a:srgbClr val="DCE2EC"/>
                </a:solidFill>
                <a:latin typeface="Arial"/>
              </a:rPr>
              <a:t>We create </a:t>
            </a:r>
            <a:r>
              <a:rPr sz="1000" b="1" dirty="0">
                <a:solidFill>
                  <a:srgbClr val="C9A227"/>
                </a:solidFill>
                <a:latin typeface="Arial"/>
              </a:rPr>
              <a:t>"Paper Lots"</a:t>
            </a:r>
            <a:r>
              <a:rPr sz="1000" b="0" dirty="0">
                <a:solidFill>
                  <a:srgbClr val="C9A227"/>
                </a:solidFill>
                <a:latin typeface="Arial"/>
              </a:rPr>
              <a:t> </a:t>
            </a:r>
            <a:r>
              <a:rPr sz="1000" b="0" dirty="0">
                <a:solidFill>
                  <a:srgbClr val="DCE2EC"/>
                </a:solidFill>
                <a:latin typeface="Arial"/>
              </a:rPr>
              <a:t>— approved subdivision maps — </a:t>
            </a:r>
            <a:r>
              <a:rPr sz="1000" b="1" i="1" dirty="0">
                <a:solidFill>
                  <a:srgbClr val="C9A227"/>
                </a:solidFill>
                <a:latin typeface="Arial"/>
              </a:rPr>
              <a:t>without construction</a:t>
            </a:r>
            <a:r>
              <a:rPr sz="1000" b="0" dirty="0">
                <a:solidFill>
                  <a:srgbClr val="C9A227"/>
                </a:solidFill>
                <a:latin typeface="Arial"/>
              </a:rPr>
              <a:t>. </a:t>
            </a:r>
            <a:endParaRPr lang="en-US" sz="1000" b="0" dirty="0">
              <a:solidFill>
                <a:srgbClr val="C9A227"/>
              </a:solidFill>
              <a:latin typeface="Arial"/>
            </a:endParaRPr>
          </a:p>
          <a:p>
            <a:pPr algn="ctr">
              <a:lnSpc>
                <a:spcPct val="112000"/>
              </a:lnSpc>
            </a:pPr>
            <a:r>
              <a:rPr sz="1000" b="0" dirty="0">
                <a:solidFill>
                  <a:srgbClr val="DCE2EC"/>
                </a:solidFill>
                <a:latin typeface="Arial"/>
              </a:rPr>
              <a:t>The </a:t>
            </a:r>
            <a:r>
              <a:rPr lang="en-US" sz="1000" b="1" i="1" dirty="0">
                <a:solidFill>
                  <a:srgbClr val="C9A227"/>
                </a:solidFill>
                <a:latin typeface="Arial"/>
              </a:rPr>
              <a:t>builder</a:t>
            </a:r>
            <a:r>
              <a:rPr sz="1000" b="0" dirty="0">
                <a:solidFill>
                  <a:srgbClr val="DCE2EC"/>
                </a:solidFill>
                <a:latin typeface="Arial"/>
              </a:rPr>
              <a:t> takes the development risk, </a:t>
            </a:r>
            <a:r>
              <a:rPr sz="1000" b="1" i="1" dirty="0">
                <a:solidFill>
                  <a:srgbClr val="C9A227"/>
                </a:solidFill>
                <a:latin typeface="Arial"/>
              </a:rPr>
              <a:t>not our investors</a:t>
            </a:r>
            <a:r>
              <a:rPr sz="1000" b="0" dirty="0">
                <a:solidFill>
                  <a:srgbClr val="C9A227"/>
                </a:solidFill>
                <a:latin typeface="Arial"/>
              </a:rPr>
              <a:t>.</a:t>
            </a:r>
          </a:p>
        </p:txBody>
      </p:sp>
      <p:sp>
        <p:nvSpPr>
          <p:cNvPr id="47" name="TextBox 46"/>
          <p:cNvSpPr txBox="1"/>
          <p:nvPr/>
        </p:nvSpPr>
        <p:spPr>
          <a:xfrm>
            <a:off x="547489" y="7835019"/>
            <a:ext cx="3200400" cy="707310"/>
          </a:xfrm>
          <a:prstGeom prst="rect">
            <a:avLst/>
          </a:prstGeom>
          <a:noFill/>
        </p:spPr>
        <p:txBody>
          <a:bodyPr wrap="square" lIns="0" tIns="0" rIns="0" bIns="0" anchor="t">
            <a:spAutoFit/>
          </a:bodyPr>
          <a:lstStyle/>
          <a:p>
            <a:pPr algn="ctr">
              <a:lnSpc>
                <a:spcPct val="112000"/>
              </a:lnSpc>
            </a:pPr>
            <a:r>
              <a:rPr lang="en-US" sz="1000" b="0" dirty="0">
                <a:solidFill>
                  <a:srgbClr val="DCE2EC"/>
                </a:solidFill>
                <a:latin typeface="Arial"/>
              </a:rPr>
              <a:t>We earn our profit share </a:t>
            </a:r>
            <a:r>
              <a:rPr lang="en-US" sz="1000" b="1" i="1" dirty="0">
                <a:solidFill>
                  <a:srgbClr val="C9A227"/>
                </a:solidFill>
                <a:latin typeface="Arial"/>
              </a:rPr>
              <a:t>only after</a:t>
            </a:r>
            <a:r>
              <a:rPr lang="en-US" sz="1000" b="0" dirty="0">
                <a:solidFill>
                  <a:srgbClr val="DCE2EC"/>
                </a:solidFill>
                <a:latin typeface="Arial"/>
              </a:rPr>
              <a:t> investors receive their </a:t>
            </a:r>
            <a:r>
              <a:rPr lang="en-US" sz="1000" b="1" i="1" dirty="0">
                <a:solidFill>
                  <a:srgbClr val="C9A227"/>
                </a:solidFill>
                <a:latin typeface="Arial"/>
              </a:rPr>
              <a:t>20% preferred return</a:t>
            </a:r>
            <a:r>
              <a:rPr lang="en-US" sz="1000" b="0" dirty="0">
                <a:solidFill>
                  <a:srgbClr val="DCE2EC"/>
                </a:solidFill>
                <a:latin typeface="Arial"/>
              </a:rPr>
              <a:t>, so we're driven to push every project's return </a:t>
            </a:r>
            <a:r>
              <a:rPr lang="en-US" sz="1000" b="1" i="1" dirty="0">
                <a:solidFill>
                  <a:srgbClr val="C9A227"/>
                </a:solidFill>
                <a:latin typeface="Arial"/>
              </a:rPr>
              <a:t>as high as possible</a:t>
            </a:r>
            <a:r>
              <a:rPr lang="en-US" sz="1000" b="0" dirty="0">
                <a:solidFill>
                  <a:srgbClr val="C9A227"/>
                </a:solidFill>
                <a:latin typeface="Arial"/>
              </a:rPr>
              <a:t>. </a:t>
            </a:r>
          </a:p>
          <a:p>
            <a:pPr algn="ctr">
              <a:lnSpc>
                <a:spcPct val="112000"/>
              </a:lnSpc>
            </a:pPr>
            <a:r>
              <a:rPr lang="en-US" sz="1200" b="1" i="1" dirty="0">
                <a:solidFill>
                  <a:srgbClr val="C9A227"/>
                </a:solidFill>
                <a:latin typeface="Arial"/>
              </a:rPr>
              <a:t>When you win, we win.</a:t>
            </a:r>
            <a:endParaRPr sz="1200" b="1" i="1" dirty="0">
              <a:solidFill>
                <a:srgbClr val="C9A227"/>
              </a:solidFill>
              <a:latin typeface="Arial"/>
            </a:endParaRPr>
          </a:p>
        </p:txBody>
      </p:sp>
      <p:sp>
        <p:nvSpPr>
          <p:cNvPr id="48" name="TextBox 47"/>
          <p:cNvSpPr txBox="1"/>
          <p:nvPr/>
        </p:nvSpPr>
        <p:spPr>
          <a:xfrm>
            <a:off x="3980544" y="6599597"/>
            <a:ext cx="3535542" cy="246221"/>
          </a:xfrm>
          <a:prstGeom prst="rect">
            <a:avLst/>
          </a:prstGeom>
          <a:noFill/>
        </p:spPr>
        <p:txBody>
          <a:bodyPr wrap="square" lIns="0" tIns="0" rIns="0" bIns="0" anchor="t">
            <a:spAutoFit/>
          </a:bodyPr>
          <a:lstStyle/>
          <a:p>
            <a:pPr algn="ctr"/>
            <a:r>
              <a:rPr sz="1050" b="0" dirty="0">
                <a:solidFill>
                  <a:srgbClr val="C9A227"/>
                </a:solidFill>
                <a:latin typeface="Arial"/>
              </a:rPr>
              <a:t>● </a:t>
            </a:r>
            <a:r>
              <a:rPr sz="1600" b="1" dirty="0">
                <a:solidFill>
                  <a:srgbClr val="FFFFFF"/>
                </a:solidFill>
                <a:latin typeface="Arial"/>
              </a:rPr>
              <a:t>We Know The </a:t>
            </a:r>
            <a:r>
              <a:rPr lang="en-US" sz="1600" b="1" dirty="0">
                <a:solidFill>
                  <a:srgbClr val="FFFFFF"/>
                </a:solidFill>
                <a:latin typeface="Arial"/>
              </a:rPr>
              <a:t>Builder’s </a:t>
            </a:r>
            <a:r>
              <a:rPr sz="1600" b="1" dirty="0">
                <a:solidFill>
                  <a:srgbClr val="FFFFFF"/>
                </a:solidFill>
                <a:latin typeface="Arial"/>
              </a:rPr>
              <a:t>Numbers</a:t>
            </a:r>
            <a:r>
              <a:rPr lang="en-US" sz="1600" b="1" dirty="0">
                <a:solidFill>
                  <a:srgbClr val="FFFFFF"/>
                </a:solidFill>
                <a:latin typeface="Arial"/>
              </a:rPr>
              <a:t> </a:t>
            </a:r>
            <a:r>
              <a:rPr lang="en-US" sz="1100" dirty="0">
                <a:solidFill>
                  <a:srgbClr val="C9A227"/>
                </a:solidFill>
                <a:latin typeface="Arial"/>
              </a:rPr>
              <a:t>●</a:t>
            </a:r>
            <a:endParaRPr sz="1200" b="1" dirty="0">
              <a:solidFill>
                <a:srgbClr val="FFFFFF"/>
              </a:solidFill>
              <a:latin typeface="Arial"/>
            </a:endParaRPr>
          </a:p>
        </p:txBody>
      </p:sp>
      <p:sp>
        <p:nvSpPr>
          <p:cNvPr id="49" name="TextBox 48"/>
          <p:cNvSpPr txBox="1"/>
          <p:nvPr/>
        </p:nvSpPr>
        <p:spPr>
          <a:xfrm>
            <a:off x="4256532" y="6916667"/>
            <a:ext cx="3108960" cy="503151"/>
          </a:xfrm>
          <a:prstGeom prst="rect">
            <a:avLst/>
          </a:prstGeom>
          <a:noFill/>
        </p:spPr>
        <p:txBody>
          <a:bodyPr wrap="square" lIns="0" tIns="0" rIns="0" bIns="0" anchor="t">
            <a:spAutoFit/>
          </a:bodyPr>
          <a:lstStyle/>
          <a:p>
            <a:pPr algn="ctr">
              <a:lnSpc>
                <a:spcPct val="112000"/>
              </a:lnSpc>
            </a:pPr>
            <a:r>
              <a:rPr sz="1000" b="0" dirty="0">
                <a:solidFill>
                  <a:srgbClr val="DCE2EC"/>
                </a:solidFill>
                <a:latin typeface="Arial"/>
              </a:rPr>
              <a:t>Our project financial analysis proforma </a:t>
            </a:r>
            <a:r>
              <a:rPr sz="1000" b="1" i="1" dirty="0">
                <a:solidFill>
                  <a:srgbClr val="C9A227"/>
                </a:solidFill>
                <a:latin typeface="Arial"/>
              </a:rPr>
              <a:t>mirror theirs</a:t>
            </a:r>
            <a:r>
              <a:rPr sz="1000" b="0" dirty="0">
                <a:solidFill>
                  <a:srgbClr val="DCE2EC"/>
                </a:solidFill>
                <a:latin typeface="Arial"/>
              </a:rPr>
              <a:t>, giving us a </a:t>
            </a:r>
            <a:r>
              <a:rPr sz="1000" b="1" i="1" dirty="0">
                <a:solidFill>
                  <a:srgbClr val="C9A227"/>
                </a:solidFill>
                <a:latin typeface="Arial"/>
              </a:rPr>
              <a:t>decisive advantage</a:t>
            </a:r>
            <a:r>
              <a:rPr sz="1000" b="0" i="1" dirty="0">
                <a:solidFill>
                  <a:srgbClr val="DCE2EC"/>
                </a:solidFill>
                <a:latin typeface="Arial"/>
              </a:rPr>
              <a:t> </a:t>
            </a:r>
            <a:r>
              <a:rPr sz="1000" b="0" dirty="0">
                <a:solidFill>
                  <a:srgbClr val="DCE2EC"/>
                </a:solidFill>
                <a:latin typeface="Arial"/>
              </a:rPr>
              <a:t>in negotiating land acquisitions and sales to California's </a:t>
            </a:r>
            <a:r>
              <a:rPr sz="1000" b="1" i="1" dirty="0">
                <a:solidFill>
                  <a:srgbClr val="C9A227"/>
                </a:solidFill>
                <a:latin typeface="Arial"/>
              </a:rPr>
              <a:t>premier builders</a:t>
            </a:r>
            <a:r>
              <a:rPr sz="1000" b="0" dirty="0">
                <a:solidFill>
                  <a:srgbClr val="DCE2EC"/>
                </a:solidFill>
                <a:latin typeface="Arial"/>
              </a:rPr>
              <a:t>.</a:t>
            </a:r>
          </a:p>
        </p:txBody>
      </p:sp>
      <p:sp>
        <p:nvSpPr>
          <p:cNvPr id="51" name="TextBox 50"/>
          <p:cNvSpPr txBox="1"/>
          <p:nvPr/>
        </p:nvSpPr>
        <p:spPr>
          <a:xfrm>
            <a:off x="4274820" y="7824580"/>
            <a:ext cx="3108960" cy="675506"/>
          </a:xfrm>
          <a:prstGeom prst="rect">
            <a:avLst/>
          </a:prstGeom>
          <a:noFill/>
        </p:spPr>
        <p:txBody>
          <a:bodyPr wrap="square" lIns="0" tIns="0" rIns="0" bIns="0" anchor="t">
            <a:spAutoFit/>
          </a:bodyPr>
          <a:lstStyle/>
          <a:p>
            <a:pPr algn="ctr">
              <a:lnSpc>
                <a:spcPct val="112000"/>
              </a:lnSpc>
            </a:pPr>
            <a:r>
              <a:rPr sz="1000" b="0" dirty="0">
                <a:solidFill>
                  <a:srgbClr val="DCE2EC"/>
                </a:solidFill>
                <a:latin typeface="Arial"/>
              </a:rPr>
              <a:t>The </a:t>
            </a:r>
            <a:r>
              <a:rPr sz="1000" b="1" i="1" dirty="0">
                <a:solidFill>
                  <a:srgbClr val="C9A227"/>
                </a:solidFill>
                <a:latin typeface="Arial"/>
              </a:rPr>
              <a:t>most regulated state </a:t>
            </a:r>
            <a:r>
              <a:rPr sz="1000" b="0" dirty="0">
                <a:solidFill>
                  <a:srgbClr val="DCE2EC"/>
                </a:solidFill>
                <a:latin typeface="Arial"/>
              </a:rPr>
              <a:t>is the highest-barrier market — </a:t>
            </a:r>
            <a:r>
              <a:rPr sz="1000" b="1" i="1" dirty="0">
                <a:solidFill>
                  <a:srgbClr val="C9A227"/>
                </a:solidFill>
                <a:latin typeface="Arial"/>
              </a:rPr>
              <a:t>fewer competitors</a:t>
            </a:r>
            <a:r>
              <a:rPr sz="1000" b="0" dirty="0">
                <a:solidFill>
                  <a:srgbClr val="DCE2EC"/>
                </a:solidFill>
                <a:latin typeface="Arial"/>
              </a:rPr>
              <a:t> for those who know it. </a:t>
            </a:r>
            <a:endParaRPr lang="en-US" sz="1000" b="0" dirty="0">
              <a:solidFill>
                <a:srgbClr val="DCE2EC"/>
              </a:solidFill>
              <a:latin typeface="Arial"/>
            </a:endParaRPr>
          </a:p>
          <a:p>
            <a:pPr algn="ctr">
              <a:lnSpc>
                <a:spcPct val="112000"/>
              </a:lnSpc>
            </a:pPr>
            <a:r>
              <a:rPr sz="1000" b="0" dirty="0">
                <a:solidFill>
                  <a:srgbClr val="DCE2EC"/>
                </a:solidFill>
                <a:latin typeface="Arial"/>
              </a:rPr>
              <a:t>Our principals </a:t>
            </a:r>
            <a:r>
              <a:rPr lang="en-US" sz="1000" b="0" dirty="0">
                <a:solidFill>
                  <a:srgbClr val="DCE2EC"/>
                </a:solidFill>
                <a:latin typeface="Arial"/>
              </a:rPr>
              <a:t>have </a:t>
            </a:r>
            <a:r>
              <a:rPr lang="en-US" sz="1000" b="1" i="1" dirty="0">
                <a:solidFill>
                  <a:srgbClr val="C9A227"/>
                </a:solidFill>
                <a:latin typeface="Arial"/>
              </a:rPr>
              <a:t>spent decades mastering </a:t>
            </a:r>
          </a:p>
          <a:p>
            <a:pPr algn="ctr">
              <a:lnSpc>
                <a:spcPct val="112000"/>
              </a:lnSpc>
            </a:pPr>
            <a:r>
              <a:rPr lang="en-US" sz="1000" dirty="0">
                <a:solidFill>
                  <a:srgbClr val="DCE2EC"/>
                </a:solidFill>
                <a:latin typeface="Arial"/>
              </a:rPr>
              <a:t>the state’s entitlement process. </a:t>
            </a:r>
            <a:endParaRPr sz="1000" b="0" dirty="0">
              <a:solidFill>
                <a:srgbClr val="DCE2EC"/>
              </a:solidFill>
              <a:latin typeface="Arial"/>
            </a:endParaRPr>
          </a:p>
        </p:txBody>
      </p:sp>
      <p:sp>
        <p:nvSpPr>
          <p:cNvPr id="55" name="TextBox 54"/>
          <p:cNvSpPr txBox="1"/>
          <p:nvPr/>
        </p:nvSpPr>
        <p:spPr>
          <a:xfrm>
            <a:off x="2096551" y="9977447"/>
            <a:ext cx="4680788" cy="215444"/>
          </a:xfrm>
          <a:prstGeom prst="rect">
            <a:avLst/>
          </a:prstGeom>
          <a:noFill/>
        </p:spPr>
        <p:txBody>
          <a:bodyPr wrap="square" lIns="0" tIns="0" rIns="0" bIns="0" anchor="t">
            <a:spAutoFit/>
          </a:bodyPr>
          <a:lstStyle/>
          <a:p>
            <a:pPr algn="r"/>
            <a:r>
              <a:rPr sz="1400" b="1" dirty="0">
                <a:solidFill>
                  <a:schemeClr val="bg1"/>
                </a:solidFill>
                <a:latin typeface="Arial"/>
              </a:rPr>
              <a:t>SEE </a:t>
            </a:r>
            <a:r>
              <a:rPr lang="en-US" sz="1400" b="1" dirty="0">
                <a:solidFill>
                  <a:schemeClr val="bg1"/>
                </a:solidFill>
                <a:latin typeface="Arial"/>
              </a:rPr>
              <a:t>REVERSE FOR ADDDITIONAL INFORMATION </a:t>
            </a:r>
            <a:endParaRPr sz="1400" b="1" dirty="0">
              <a:solidFill>
                <a:schemeClr val="bg1"/>
              </a:solidFill>
              <a:latin typeface="Arial"/>
            </a:endParaRPr>
          </a:p>
        </p:txBody>
      </p:sp>
      <p:sp>
        <p:nvSpPr>
          <p:cNvPr id="63" name="TextBox 62">
            <a:extLst>
              <a:ext uri="{FF2B5EF4-FFF2-40B4-BE49-F238E27FC236}">
                <a16:creationId xmlns:a16="http://schemas.microsoft.com/office/drawing/2014/main" id="{FBB300DF-98CA-E283-630D-6EF58A5FB0F7}"/>
              </a:ext>
            </a:extLst>
          </p:cNvPr>
          <p:cNvSpPr txBox="1"/>
          <p:nvPr/>
        </p:nvSpPr>
        <p:spPr>
          <a:xfrm>
            <a:off x="472716" y="7517437"/>
            <a:ext cx="3348090" cy="246221"/>
          </a:xfrm>
          <a:prstGeom prst="rect">
            <a:avLst/>
          </a:prstGeom>
          <a:noFill/>
        </p:spPr>
        <p:txBody>
          <a:bodyPr wrap="square" lIns="0" tIns="0" rIns="0" bIns="0" anchor="t">
            <a:spAutoFit/>
          </a:bodyPr>
          <a:lstStyle/>
          <a:p>
            <a:pPr algn="ctr"/>
            <a:r>
              <a:rPr sz="1050" b="0" dirty="0">
                <a:solidFill>
                  <a:srgbClr val="C9A227"/>
                </a:solidFill>
                <a:latin typeface="Arial"/>
              </a:rPr>
              <a:t>● </a:t>
            </a:r>
            <a:r>
              <a:rPr lang="en-US" sz="1600" b="1" dirty="0">
                <a:solidFill>
                  <a:srgbClr val="FFFFFF"/>
                </a:solidFill>
                <a:latin typeface="Arial"/>
              </a:rPr>
              <a:t>Investor-Aligned Structure </a:t>
            </a:r>
            <a:r>
              <a:rPr lang="en-US" sz="1200" dirty="0">
                <a:solidFill>
                  <a:srgbClr val="C9A227"/>
                </a:solidFill>
                <a:latin typeface="Arial"/>
              </a:rPr>
              <a:t>●</a:t>
            </a:r>
            <a:endParaRPr sz="1200" b="1" dirty="0">
              <a:solidFill>
                <a:srgbClr val="FFFFFF"/>
              </a:solidFill>
              <a:latin typeface="Arial"/>
            </a:endParaRPr>
          </a:p>
        </p:txBody>
      </p:sp>
      <p:sp>
        <p:nvSpPr>
          <p:cNvPr id="64" name="TextBox 63">
            <a:extLst>
              <a:ext uri="{FF2B5EF4-FFF2-40B4-BE49-F238E27FC236}">
                <a16:creationId xmlns:a16="http://schemas.microsoft.com/office/drawing/2014/main" id="{9C534B1D-A7DE-A51E-FE99-FEBF4B13753E}"/>
              </a:ext>
            </a:extLst>
          </p:cNvPr>
          <p:cNvSpPr txBox="1"/>
          <p:nvPr/>
        </p:nvSpPr>
        <p:spPr>
          <a:xfrm>
            <a:off x="4127130" y="7535480"/>
            <a:ext cx="3348090" cy="246221"/>
          </a:xfrm>
          <a:prstGeom prst="rect">
            <a:avLst/>
          </a:prstGeom>
          <a:noFill/>
        </p:spPr>
        <p:txBody>
          <a:bodyPr wrap="square" lIns="0" tIns="0" rIns="0" bIns="0" anchor="t">
            <a:spAutoFit/>
          </a:bodyPr>
          <a:lstStyle/>
          <a:p>
            <a:pPr algn="ctr"/>
            <a:r>
              <a:rPr sz="1050" b="0" dirty="0">
                <a:solidFill>
                  <a:srgbClr val="C9A227"/>
                </a:solidFill>
                <a:latin typeface="Arial"/>
              </a:rPr>
              <a:t>● </a:t>
            </a:r>
            <a:r>
              <a:rPr lang="en-US" sz="1600" b="1" dirty="0">
                <a:solidFill>
                  <a:srgbClr val="FFFFFF"/>
                </a:solidFill>
                <a:latin typeface="Arial"/>
              </a:rPr>
              <a:t>California Is Our Advantage </a:t>
            </a:r>
            <a:r>
              <a:rPr lang="en-US" sz="1100" dirty="0">
                <a:solidFill>
                  <a:srgbClr val="C9A227"/>
                </a:solidFill>
                <a:latin typeface="Arial"/>
              </a:rPr>
              <a:t>●</a:t>
            </a:r>
            <a:endParaRPr sz="1200" b="1" dirty="0">
              <a:solidFill>
                <a:srgbClr val="FFFFFF"/>
              </a:solidFill>
              <a:latin typeface="Arial"/>
            </a:endParaRPr>
          </a:p>
        </p:txBody>
      </p:sp>
      <p:cxnSp>
        <p:nvCxnSpPr>
          <p:cNvPr id="68" name="Straight Arrow Connector 67">
            <a:extLst>
              <a:ext uri="{FF2B5EF4-FFF2-40B4-BE49-F238E27FC236}">
                <a16:creationId xmlns:a16="http://schemas.microsoft.com/office/drawing/2014/main" id="{70804BA7-8236-8E7A-099D-E4C03DE0AE72}"/>
              </a:ext>
            </a:extLst>
          </p:cNvPr>
          <p:cNvCxnSpPr/>
          <p:nvPr/>
        </p:nvCxnSpPr>
        <p:spPr>
          <a:xfrm>
            <a:off x="6923319" y="10085169"/>
            <a:ext cx="592767" cy="0"/>
          </a:xfrm>
          <a:prstGeom prst="straightConnector1">
            <a:avLst/>
          </a:prstGeom>
          <a:ln w="7620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14F21542-562C-3FB3-517A-1B971B4F87C1}"/>
              </a:ext>
            </a:extLst>
          </p:cNvPr>
          <p:cNvCxnSpPr>
            <a:cxnSpLocks/>
          </p:cNvCxnSpPr>
          <p:nvPr/>
        </p:nvCxnSpPr>
        <p:spPr>
          <a:xfrm>
            <a:off x="1885257" y="4471449"/>
            <a:ext cx="211294" cy="0"/>
          </a:xfrm>
          <a:prstGeom prst="straightConnector1">
            <a:avLst/>
          </a:prstGeom>
          <a:ln w="38100">
            <a:solidFill>
              <a:srgbClr val="C9A227"/>
            </a:solidFill>
            <a:tailEnd type="triangle"/>
          </a:ln>
        </p:spPr>
        <p:style>
          <a:lnRef idx="2">
            <a:schemeClr val="accent1"/>
          </a:lnRef>
          <a:fillRef idx="0">
            <a:schemeClr val="accent1"/>
          </a:fillRef>
          <a:effectRef idx="1">
            <a:schemeClr val="accent1"/>
          </a:effectRef>
          <a:fontRef idx="minor">
            <a:schemeClr val="tx1"/>
          </a:fontRef>
        </p:style>
      </p:cxnSp>
      <p:cxnSp>
        <p:nvCxnSpPr>
          <p:cNvPr id="73" name="Straight Arrow Connector 72">
            <a:extLst>
              <a:ext uri="{FF2B5EF4-FFF2-40B4-BE49-F238E27FC236}">
                <a16:creationId xmlns:a16="http://schemas.microsoft.com/office/drawing/2014/main" id="{56768A3E-9508-B803-AE8A-2895E935E047}"/>
              </a:ext>
            </a:extLst>
          </p:cNvPr>
          <p:cNvCxnSpPr>
            <a:cxnSpLocks/>
          </p:cNvCxnSpPr>
          <p:nvPr/>
        </p:nvCxnSpPr>
        <p:spPr>
          <a:xfrm>
            <a:off x="3805606" y="4479632"/>
            <a:ext cx="211294" cy="0"/>
          </a:xfrm>
          <a:prstGeom prst="straightConnector1">
            <a:avLst/>
          </a:prstGeom>
          <a:ln w="38100">
            <a:solidFill>
              <a:srgbClr val="C9A227"/>
            </a:solidFill>
            <a:tailEnd type="triangle"/>
          </a:ln>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6EE54595-DDEB-5E75-BFAA-E428CB0E2D7A}"/>
              </a:ext>
            </a:extLst>
          </p:cNvPr>
          <p:cNvCxnSpPr>
            <a:cxnSpLocks/>
          </p:cNvCxnSpPr>
          <p:nvPr/>
        </p:nvCxnSpPr>
        <p:spPr>
          <a:xfrm>
            <a:off x="5723653" y="4471449"/>
            <a:ext cx="211294" cy="0"/>
          </a:xfrm>
          <a:prstGeom prst="straightConnector1">
            <a:avLst/>
          </a:prstGeom>
          <a:ln w="38100">
            <a:solidFill>
              <a:srgbClr val="C9A227"/>
            </a:solidFill>
            <a:tailEnd type="triangle"/>
          </a:ln>
        </p:spPr>
        <p:style>
          <a:lnRef idx="2">
            <a:schemeClr val="accent1"/>
          </a:lnRef>
          <a:fillRef idx="0">
            <a:schemeClr val="accent1"/>
          </a:fillRef>
          <a:effectRef idx="1">
            <a:schemeClr val="accent1"/>
          </a:effectRef>
          <a:fontRef idx="minor">
            <a:schemeClr val="tx1"/>
          </a:fontRef>
        </p:style>
      </p:cxnSp>
      <p:sp>
        <p:nvSpPr>
          <p:cNvPr id="75" name="Rounded Rectangle 74"/>
          <p:cNvSpPr/>
          <p:nvPr/>
        </p:nvSpPr>
        <p:spPr>
          <a:xfrm>
            <a:off x="502920" y="8613648"/>
            <a:ext cx="6766560" cy="1225296"/>
          </a:xfrm>
          <a:prstGeom prst="roundRect">
            <a:avLst>
              <a:gd name="adj" fmla="val 7000"/>
            </a:avLst>
          </a:prstGeom>
          <a:solidFill>
            <a:srgbClr val="1B3A66"/>
          </a:solidFill>
          <a:ln w="1905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640080" y="8705088"/>
            <a:ext cx="6492240" cy="274320"/>
          </a:xfrm>
          <a:prstGeom prst="rect">
            <a:avLst/>
          </a:prstGeom>
          <a:noFill/>
        </p:spPr>
        <p:txBody>
          <a:bodyPr wrap="square" lIns="0" tIns="0" rIns="0" bIns="0" anchor="t">
            <a:spAutoFit/>
          </a:bodyPr>
          <a:lstStyle/>
          <a:p>
            <a:pPr algn="ctr"/>
            <a:r>
              <a:rPr sz="1700" b="1" dirty="0">
                <a:solidFill>
                  <a:srgbClr val="C9A227"/>
                </a:solidFill>
                <a:latin typeface="Arial"/>
              </a:rPr>
              <a:t>See If You're a Fit</a:t>
            </a:r>
          </a:p>
        </p:txBody>
      </p:sp>
      <p:sp>
        <p:nvSpPr>
          <p:cNvPr id="77" name="TextBox 76"/>
          <p:cNvSpPr txBox="1"/>
          <p:nvPr/>
        </p:nvSpPr>
        <p:spPr>
          <a:xfrm>
            <a:off x="777240" y="9006840"/>
            <a:ext cx="6217920" cy="420624"/>
          </a:xfrm>
          <a:prstGeom prst="rect">
            <a:avLst/>
          </a:prstGeom>
          <a:noFill/>
        </p:spPr>
        <p:txBody>
          <a:bodyPr wrap="square" lIns="0" tIns="0" rIns="0" bIns="0" anchor="t">
            <a:spAutoFit/>
          </a:bodyPr>
          <a:lstStyle/>
          <a:p>
            <a:pPr algn="ctr">
              <a:lnSpc>
                <a:spcPct val="112000"/>
              </a:lnSpc>
            </a:pPr>
            <a:r>
              <a:rPr sz="950" b="0" dirty="0">
                <a:solidFill>
                  <a:srgbClr val="DCE2EC"/>
                </a:solidFill>
                <a:latin typeface="Arial"/>
              </a:rPr>
              <a:t>We partner with a limited number of accredited investors on each project. Reach out to learn more, confirm your eligibility, and see whether this is the right fit for your portfolio.</a:t>
            </a:r>
          </a:p>
        </p:txBody>
      </p:sp>
      <p:sp>
        <p:nvSpPr>
          <p:cNvPr id="78" name="TextBox 77"/>
          <p:cNvSpPr txBox="1"/>
          <p:nvPr/>
        </p:nvSpPr>
        <p:spPr>
          <a:xfrm>
            <a:off x="640080" y="9436608"/>
            <a:ext cx="6492240" cy="237744"/>
          </a:xfrm>
          <a:prstGeom prst="rect">
            <a:avLst/>
          </a:prstGeom>
          <a:noFill/>
        </p:spPr>
        <p:txBody>
          <a:bodyPr wrap="square" lIns="0" tIns="0" rIns="0" bIns="0" anchor="t">
            <a:spAutoFit/>
          </a:bodyPr>
          <a:lstStyle/>
          <a:p>
            <a:pPr algn="ctr"/>
            <a:r>
              <a:rPr sz="1100" b="0" dirty="0">
                <a:solidFill>
                  <a:srgbClr val="FFFFFF"/>
                </a:solidFill>
                <a:latin typeface="Arial"/>
              </a:rPr>
              <a:t>Call </a:t>
            </a:r>
            <a:r>
              <a:rPr sz="1100" b="1" dirty="0">
                <a:solidFill>
                  <a:srgbClr val="C9A227"/>
                </a:solidFill>
                <a:latin typeface="Arial"/>
              </a:rPr>
              <a:t>(619) 329-1350</a:t>
            </a:r>
            <a:r>
              <a:rPr sz="1100" b="0" dirty="0">
                <a:solidFill>
                  <a:srgbClr val="FFFFFF"/>
                </a:solidFill>
                <a:latin typeface="Arial"/>
              </a:rPr>
              <a:t>     Email </a:t>
            </a:r>
            <a:r>
              <a:rPr sz="1100" b="1" dirty="0" err="1">
                <a:solidFill>
                  <a:srgbClr val="C9A227"/>
                </a:solidFill>
                <a:latin typeface="Arial"/>
              </a:rPr>
              <a:t>info@TrendAmericaLand.com</a:t>
            </a:r>
            <a:r>
              <a:rPr sz="1100" b="0" dirty="0">
                <a:solidFill>
                  <a:srgbClr val="FFFFFF"/>
                </a:solidFill>
                <a:latin typeface="Arial"/>
              </a:rPr>
              <a:t>     Visit </a:t>
            </a:r>
            <a:r>
              <a:rPr sz="1100" b="1" dirty="0" err="1">
                <a:solidFill>
                  <a:srgbClr val="C9A227"/>
                </a:solidFill>
                <a:latin typeface="Arial"/>
              </a:rPr>
              <a:t>TrendAmericaLand.com</a:t>
            </a:r>
            <a:endParaRPr sz="1100" b="1" dirty="0">
              <a:solidFill>
                <a:srgbClr val="C9A227"/>
              </a:solidFill>
              <a:latin typeface="Arial"/>
            </a:endParaRPr>
          </a:p>
        </p:txBody>
      </p:sp>
      <p:sp>
        <p:nvSpPr>
          <p:cNvPr id="79" name="TextBox 78"/>
          <p:cNvSpPr txBox="1"/>
          <p:nvPr/>
        </p:nvSpPr>
        <p:spPr>
          <a:xfrm>
            <a:off x="640080" y="9674352"/>
            <a:ext cx="6492240" cy="164592"/>
          </a:xfrm>
          <a:prstGeom prst="rect">
            <a:avLst/>
          </a:prstGeom>
          <a:noFill/>
        </p:spPr>
        <p:txBody>
          <a:bodyPr wrap="square" lIns="0" tIns="0" rIns="0" bIns="0" anchor="t">
            <a:spAutoFit/>
          </a:bodyPr>
          <a:lstStyle/>
          <a:p>
            <a:pPr algn="ctr"/>
            <a:r>
              <a:rPr sz="800" b="0" dirty="0">
                <a:solidFill>
                  <a:srgbClr val="DCE2EC"/>
                </a:solidFill>
                <a:latin typeface="Arial"/>
              </a:rPr>
              <a:t>$20,000 minimum per project   •   Accredited investors only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28600"/>
            <a:ext cx="7772400" cy="10058400"/>
          </a:xfrm>
          <a:prstGeom prst="rect">
            <a:avLst/>
          </a:prstGeom>
          <a:solidFill>
            <a:srgbClr val="0D28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6032"/>
            <a:ext cx="6858000" cy="411480"/>
          </a:xfrm>
          <a:prstGeom prst="rect">
            <a:avLst/>
          </a:prstGeom>
          <a:noFill/>
        </p:spPr>
        <p:txBody>
          <a:bodyPr wrap="square" lIns="0" tIns="0" rIns="0" bIns="0" anchor="t">
            <a:spAutoFit/>
          </a:bodyPr>
          <a:lstStyle/>
          <a:p>
            <a:pPr algn="ctr"/>
            <a:r>
              <a:rPr sz="2400" b="1">
                <a:solidFill>
                  <a:srgbClr val="FFFFFF"/>
                </a:solidFill>
                <a:latin typeface="Arial"/>
              </a:rPr>
              <a:t>TREND</a:t>
            </a:r>
            <a:r>
              <a:rPr sz="2400" b="1">
                <a:solidFill>
                  <a:srgbClr val="C9A227"/>
                </a:solidFill>
                <a:latin typeface="Arial"/>
              </a:rPr>
              <a:t>AMERICA</a:t>
            </a:r>
          </a:p>
        </p:txBody>
      </p:sp>
      <p:sp>
        <p:nvSpPr>
          <p:cNvPr id="4" name="TextBox 3"/>
          <p:cNvSpPr txBox="1"/>
          <p:nvPr/>
        </p:nvSpPr>
        <p:spPr>
          <a:xfrm>
            <a:off x="457200" y="640080"/>
            <a:ext cx="6858000" cy="219456"/>
          </a:xfrm>
          <a:prstGeom prst="rect">
            <a:avLst/>
          </a:prstGeom>
          <a:noFill/>
        </p:spPr>
        <p:txBody>
          <a:bodyPr wrap="square" lIns="0" tIns="0" rIns="0" bIns="0" anchor="t">
            <a:spAutoFit/>
          </a:bodyPr>
          <a:lstStyle/>
          <a:p>
            <a:pPr algn="ctr"/>
            <a:r>
              <a:rPr sz="950" b="1">
                <a:solidFill>
                  <a:srgbClr val="FFFFFF"/>
                </a:solidFill>
                <a:latin typeface="Arial"/>
              </a:rPr>
              <a:t>M E E T   O U R   L E A D E R S H I P   T E A M</a:t>
            </a:r>
          </a:p>
        </p:txBody>
      </p:sp>
      <p:sp>
        <p:nvSpPr>
          <p:cNvPr id="5" name="Rectangle 4"/>
          <p:cNvSpPr/>
          <p:nvPr/>
        </p:nvSpPr>
        <p:spPr>
          <a:xfrm>
            <a:off x="457200" y="896112"/>
            <a:ext cx="6858000" cy="1143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57200" y="1005840"/>
            <a:ext cx="2212848" cy="4039362"/>
          </a:xfrm>
          <a:prstGeom prst="roundRect">
            <a:avLst>
              <a:gd name="adj" fmla="val 3500"/>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randy.jpg"/>
          <p:cNvPicPr>
            <a:picLocks noChangeAspect="1"/>
          </p:cNvPicPr>
          <p:nvPr/>
        </p:nvPicPr>
        <p:blipFill>
          <a:blip r:embed="rId2"/>
          <a:stretch>
            <a:fillRect/>
          </a:stretch>
        </p:blipFill>
        <p:spPr>
          <a:xfrm>
            <a:off x="877824" y="1133856"/>
            <a:ext cx="1371600" cy="1691640"/>
          </a:xfrm>
          <a:prstGeom prst="rect">
            <a:avLst/>
          </a:prstGeom>
        </p:spPr>
      </p:pic>
      <p:sp>
        <p:nvSpPr>
          <p:cNvPr id="8" name="TextBox 7"/>
          <p:cNvSpPr txBox="1"/>
          <p:nvPr/>
        </p:nvSpPr>
        <p:spPr>
          <a:xfrm>
            <a:off x="603504" y="2935224"/>
            <a:ext cx="1920240" cy="201168"/>
          </a:xfrm>
          <a:prstGeom prst="rect">
            <a:avLst/>
          </a:prstGeom>
          <a:noFill/>
        </p:spPr>
        <p:txBody>
          <a:bodyPr wrap="square" lIns="0" tIns="0" rIns="0" bIns="0" anchor="t">
            <a:spAutoFit/>
          </a:bodyPr>
          <a:lstStyle/>
          <a:p>
            <a:pPr algn="l"/>
            <a:r>
              <a:rPr sz="1150" b="1">
                <a:solidFill>
                  <a:srgbClr val="C9A227"/>
                </a:solidFill>
                <a:latin typeface="Arial"/>
              </a:rPr>
              <a:t>RANDY REINHART</a:t>
            </a:r>
          </a:p>
        </p:txBody>
      </p:sp>
      <p:sp>
        <p:nvSpPr>
          <p:cNvPr id="9" name="TextBox 8"/>
          <p:cNvSpPr txBox="1"/>
          <p:nvPr/>
        </p:nvSpPr>
        <p:spPr>
          <a:xfrm>
            <a:off x="603504" y="3136392"/>
            <a:ext cx="1920240" cy="182880"/>
          </a:xfrm>
          <a:prstGeom prst="rect">
            <a:avLst/>
          </a:prstGeom>
          <a:noFill/>
        </p:spPr>
        <p:txBody>
          <a:bodyPr wrap="square" lIns="0" tIns="0" rIns="0" bIns="0" anchor="t">
            <a:spAutoFit/>
          </a:bodyPr>
          <a:lstStyle/>
          <a:p>
            <a:pPr algn="l"/>
            <a:r>
              <a:rPr sz="900" b="0">
                <a:solidFill>
                  <a:srgbClr val="FFFFFF"/>
                </a:solidFill>
                <a:latin typeface="Arial"/>
              </a:rPr>
              <a:t>President</a:t>
            </a:r>
          </a:p>
        </p:txBody>
      </p:sp>
      <p:sp>
        <p:nvSpPr>
          <p:cNvPr id="10" name="Rectangle 9"/>
          <p:cNvSpPr/>
          <p:nvPr/>
        </p:nvSpPr>
        <p:spPr>
          <a:xfrm>
            <a:off x="603504" y="3355848"/>
            <a:ext cx="1920240" cy="1143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3504" y="3447288"/>
            <a:ext cx="1920240" cy="1143000"/>
          </a:xfrm>
          <a:prstGeom prst="rect">
            <a:avLst/>
          </a:prstGeom>
          <a:noFill/>
        </p:spPr>
        <p:txBody>
          <a:bodyPr wrap="square" lIns="0" tIns="0" rIns="0" bIns="0" anchor="t">
            <a:spAutoFit/>
          </a:bodyPr>
          <a:lstStyle/>
          <a:p>
            <a:pPr algn="l">
              <a:lnSpc>
                <a:spcPct val="112000"/>
              </a:lnSpc>
            </a:pPr>
            <a:r>
              <a:rPr sz="720" b="0">
                <a:solidFill>
                  <a:srgbClr val="DCE2EC"/>
                </a:solidFill>
                <a:latin typeface="Arial"/>
              </a:rPr>
              <a:t>Former EVP of Land Acquisitions &amp; Entitlements at KB Home and SVP at K. Hovnanian Homes. Recruited by former U.S. Secretary of Housing Henry Cisneros to lead an infill land development joint venture. Over $500M in land transactions and 2,550+ lots, 20 projects across California and Nevada.</a:t>
            </a:r>
          </a:p>
        </p:txBody>
      </p:sp>
      <p:sp>
        <p:nvSpPr>
          <p:cNvPr id="12" name="TextBox 11"/>
          <p:cNvSpPr txBox="1"/>
          <p:nvPr/>
        </p:nvSpPr>
        <p:spPr>
          <a:xfrm>
            <a:off x="603504" y="4389120"/>
            <a:ext cx="1920240" cy="868680"/>
          </a:xfrm>
          <a:prstGeom prst="rect">
            <a:avLst/>
          </a:prstGeom>
          <a:noFill/>
        </p:spPr>
        <p:txBody>
          <a:bodyPr wrap="square" lIns="0" tIns="0" rIns="0" bIns="0" anchor="t">
            <a:spAutoFit/>
          </a:bodyPr>
          <a:lstStyle/>
          <a:p>
            <a:pPr algn="l">
              <a:lnSpc>
                <a:spcPct val="100000"/>
              </a:lnSpc>
              <a:spcAft>
                <a:spcPts val="250"/>
              </a:spcAft>
            </a:pPr>
            <a:r>
              <a:rPr sz="650" b="0" dirty="0">
                <a:solidFill>
                  <a:srgbClr val="C9A227"/>
                </a:solidFill>
                <a:latin typeface="Arial"/>
              </a:rPr>
              <a:t>●  </a:t>
            </a:r>
            <a:r>
              <a:rPr sz="720" b="0" dirty="0">
                <a:solidFill>
                  <a:srgbClr val="DCE2EC"/>
                </a:solidFill>
                <a:latin typeface="Arial"/>
              </a:rPr>
              <a:t>JD, University of Arkansas School of Law</a:t>
            </a:r>
          </a:p>
          <a:p>
            <a:pPr algn="l">
              <a:lnSpc>
                <a:spcPct val="100000"/>
              </a:lnSpc>
              <a:spcAft>
                <a:spcPts val="250"/>
              </a:spcAft>
            </a:pPr>
            <a:r>
              <a:rPr sz="650" b="0" dirty="0">
                <a:solidFill>
                  <a:srgbClr val="C9A227"/>
                </a:solidFill>
                <a:latin typeface="Arial"/>
              </a:rPr>
              <a:t>●  </a:t>
            </a:r>
            <a:r>
              <a:rPr sz="720" b="0" dirty="0">
                <a:solidFill>
                  <a:srgbClr val="DCE2EC"/>
                </a:solidFill>
                <a:latin typeface="Arial"/>
              </a:rPr>
              <a:t>BA Business, UC Riverside</a:t>
            </a:r>
          </a:p>
          <a:p>
            <a:pPr algn="l">
              <a:lnSpc>
                <a:spcPct val="100000"/>
              </a:lnSpc>
              <a:spcAft>
                <a:spcPts val="250"/>
              </a:spcAft>
            </a:pPr>
            <a:r>
              <a:rPr sz="650" b="0" dirty="0">
                <a:solidFill>
                  <a:srgbClr val="C9A227"/>
                </a:solidFill>
                <a:latin typeface="Arial"/>
              </a:rPr>
              <a:t>●  </a:t>
            </a:r>
            <a:r>
              <a:rPr sz="720" b="0" dirty="0">
                <a:solidFill>
                  <a:srgbClr val="DCE2EC"/>
                </a:solidFill>
                <a:latin typeface="Arial"/>
              </a:rPr>
              <a:t>Licensed RE Broker — CA &amp; AZ</a:t>
            </a:r>
          </a:p>
          <a:p>
            <a:pPr algn="l">
              <a:lnSpc>
                <a:spcPct val="100000"/>
              </a:lnSpc>
              <a:spcAft>
                <a:spcPts val="250"/>
              </a:spcAft>
            </a:pPr>
            <a:r>
              <a:rPr sz="650" b="0" dirty="0">
                <a:solidFill>
                  <a:srgbClr val="C9A227"/>
                </a:solidFill>
                <a:latin typeface="Arial"/>
              </a:rPr>
              <a:t>●  </a:t>
            </a:r>
            <a:r>
              <a:rPr sz="720" b="0" dirty="0">
                <a:solidFill>
                  <a:srgbClr val="DCE2EC"/>
                </a:solidFill>
                <a:latin typeface="Arial"/>
              </a:rPr>
              <a:t>Former CA General Contractor</a:t>
            </a:r>
          </a:p>
        </p:txBody>
      </p:sp>
      <p:sp>
        <p:nvSpPr>
          <p:cNvPr id="13" name="Rounded Rectangle 12"/>
          <p:cNvSpPr/>
          <p:nvPr/>
        </p:nvSpPr>
        <p:spPr>
          <a:xfrm>
            <a:off x="2779776" y="1005840"/>
            <a:ext cx="2212848" cy="4050792"/>
          </a:xfrm>
          <a:prstGeom prst="roundRect">
            <a:avLst>
              <a:gd name="adj" fmla="val 3500"/>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mark.jpg"/>
          <p:cNvPicPr>
            <a:picLocks noChangeAspect="1"/>
          </p:cNvPicPr>
          <p:nvPr/>
        </p:nvPicPr>
        <p:blipFill>
          <a:blip r:embed="rId3"/>
          <a:stretch>
            <a:fillRect/>
          </a:stretch>
        </p:blipFill>
        <p:spPr>
          <a:xfrm>
            <a:off x="3200400" y="1133856"/>
            <a:ext cx="1371600" cy="1691640"/>
          </a:xfrm>
          <a:prstGeom prst="rect">
            <a:avLst/>
          </a:prstGeom>
        </p:spPr>
      </p:pic>
      <p:sp>
        <p:nvSpPr>
          <p:cNvPr id="15" name="TextBox 14"/>
          <p:cNvSpPr txBox="1"/>
          <p:nvPr/>
        </p:nvSpPr>
        <p:spPr>
          <a:xfrm>
            <a:off x="2926080" y="2935224"/>
            <a:ext cx="1920240" cy="201168"/>
          </a:xfrm>
          <a:prstGeom prst="rect">
            <a:avLst/>
          </a:prstGeom>
          <a:noFill/>
        </p:spPr>
        <p:txBody>
          <a:bodyPr wrap="square" lIns="0" tIns="0" rIns="0" bIns="0" anchor="t">
            <a:spAutoFit/>
          </a:bodyPr>
          <a:lstStyle/>
          <a:p>
            <a:pPr algn="l"/>
            <a:r>
              <a:rPr sz="1150" b="1">
                <a:solidFill>
                  <a:srgbClr val="C9A227"/>
                </a:solidFill>
                <a:latin typeface="Arial"/>
              </a:rPr>
              <a:t>MARK GOODMAN</a:t>
            </a:r>
          </a:p>
        </p:txBody>
      </p:sp>
      <p:sp>
        <p:nvSpPr>
          <p:cNvPr id="16" name="TextBox 15"/>
          <p:cNvSpPr txBox="1"/>
          <p:nvPr/>
        </p:nvSpPr>
        <p:spPr>
          <a:xfrm>
            <a:off x="2926080" y="3136392"/>
            <a:ext cx="1920240" cy="182880"/>
          </a:xfrm>
          <a:prstGeom prst="rect">
            <a:avLst/>
          </a:prstGeom>
          <a:noFill/>
        </p:spPr>
        <p:txBody>
          <a:bodyPr wrap="square" lIns="0" tIns="0" rIns="0" bIns="0" anchor="t">
            <a:spAutoFit/>
          </a:bodyPr>
          <a:lstStyle/>
          <a:p>
            <a:pPr algn="l"/>
            <a:r>
              <a:rPr sz="900" b="0">
                <a:solidFill>
                  <a:srgbClr val="FFFFFF"/>
                </a:solidFill>
                <a:latin typeface="Arial"/>
              </a:rPr>
              <a:t>VP, Entitlements</a:t>
            </a:r>
          </a:p>
        </p:txBody>
      </p:sp>
      <p:sp>
        <p:nvSpPr>
          <p:cNvPr id="17" name="Rectangle 16"/>
          <p:cNvSpPr/>
          <p:nvPr/>
        </p:nvSpPr>
        <p:spPr>
          <a:xfrm>
            <a:off x="2926080" y="3355848"/>
            <a:ext cx="1920240" cy="1143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926080" y="3447288"/>
            <a:ext cx="1920240" cy="1143000"/>
          </a:xfrm>
          <a:prstGeom prst="rect">
            <a:avLst/>
          </a:prstGeom>
          <a:noFill/>
        </p:spPr>
        <p:txBody>
          <a:bodyPr wrap="square" lIns="0" tIns="0" rIns="0" bIns="0" anchor="t">
            <a:spAutoFit/>
          </a:bodyPr>
          <a:lstStyle/>
          <a:p>
            <a:pPr algn="l">
              <a:lnSpc>
                <a:spcPct val="112000"/>
              </a:lnSpc>
            </a:pPr>
            <a:r>
              <a:rPr sz="720" b="0">
                <a:solidFill>
                  <a:srgbClr val="DCE2EC"/>
                </a:solidFill>
                <a:latin typeface="Arial"/>
              </a:rPr>
              <a:t>Senior Project Planner &amp; Environmental Analyst, Orange County Planning Dept. Director of Entitlements, KB Home. Director of Development, Shapell Homes. Elected to Laguna Niguel City Council; served as Mayor. Board member, OC Fire Authority &amp; Transportation Corridor Agencies.</a:t>
            </a:r>
          </a:p>
        </p:txBody>
      </p:sp>
      <p:sp>
        <p:nvSpPr>
          <p:cNvPr id="19" name="TextBox 18"/>
          <p:cNvSpPr txBox="1"/>
          <p:nvPr/>
        </p:nvSpPr>
        <p:spPr>
          <a:xfrm>
            <a:off x="2926080" y="4398264"/>
            <a:ext cx="1920240" cy="868680"/>
          </a:xfrm>
          <a:prstGeom prst="rect">
            <a:avLst/>
          </a:prstGeom>
          <a:noFill/>
        </p:spPr>
        <p:txBody>
          <a:bodyPr wrap="square" lIns="0" tIns="0" rIns="0" bIns="0" anchor="t">
            <a:spAutoFit/>
          </a:bodyPr>
          <a:lstStyle/>
          <a:p>
            <a:pPr algn="l">
              <a:lnSpc>
                <a:spcPct val="100000"/>
              </a:lnSpc>
              <a:spcAft>
                <a:spcPts val="250"/>
              </a:spcAft>
            </a:pPr>
            <a:r>
              <a:rPr sz="650" b="0" dirty="0">
                <a:solidFill>
                  <a:srgbClr val="C9A227"/>
                </a:solidFill>
                <a:latin typeface="Arial"/>
              </a:rPr>
              <a:t>●  </a:t>
            </a:r>
            <a:r>
              <a:rPr sz="720" b="0" dirty="0">
                <a:solidFill>
                  <a:srgbClr val="DCE2EC"/>
                </a:solidFill>
                <a:latin typeface="Arial"/>
              </a:rPr>
              <a:t>MPA Urban Planning, CSU Fullerton</a:t>
            </a:r>
          </a:p>
          <a:p>
            <a:pPr algn="l">
              <a:lnSpc>
                <a:spcPct val="100000"/>
              </a:lnSpc>
              <a:spcAft>
                <a:spcPts val="250"/>
              </a:spcAft>
            </a:pPr>
            <a:r>
              <a:rPr sz="650" b="0" dirty="0">
                <a:solidFill>
                  <a:srgbClr val="C9A227"/>
                </a:solidFill>
                <a:latin typeface="Arial"/>
              </a:rPr>
              <a:t>●  </a:t>
            </a:r>
            <a:r>
              <a:rPr sz="720" b="0" dirty="0">
                <a:solidFill>
                  <a:srgbClr val="DCE2EC"/>
                </a:solidFill>
                <a:latin typeface="Arial"/>
              </a:rPr>
              <a:t>BA Political Science, Cal Poly Pomona</a:t>
            </a:r>
          </a:p>
          <a:p>
            <a:pPr algn="l">
              <a:lnSpc>
                <a:spcPct val="100000"/>
              </a:lnSpc>
              <a:spcAft>
                <a:spcPts val="250"/>
              </a:spcAft>
            </a:pPr>
            <a:r>
              <a:rPr sz="650" b="0" dirty="0">
                <a:solidFill>
                  <a:srgbClr val="C9A227"/>
                </a:solidFill>
                <a:latin typeface="Arial"/>
              </a:rPr>
              <a:t>●  </a:t>
            </a:r>
            <a:r>
              <a:rPr sz="720" b="0" dirty="0">
                <a:solidFill>
                  <a:srgbClr val="DCE2EC"/>
                </a:solidFill>
                <a:latin typeface="Arial"/>
              </a:rPr>
              <a:t>Acting Planning Director, City of Norwalk</a:t>
            </a:r>
          </a:p>
          <a:p>
            <a:pPr algn="l">
              <a:lnSpc>
                <a:spcPct val="100000"/>
              </a:lnSpc>
              <a:spcAft>
                <a:spcPts val="250"/>
              </a:spcAft>
            </a:pPr>
            <a:r>
              <a:rPr sz="650" b="0" dirty="0">
                <a:solidFill>
                  <a:srgbClr val="C9A227"/>
                </a:solidFill>
                <a:latin typeface="Arial"/>
              </a:rPr>
              <a:t>●  </a:t>
            </a:r>
            <a:r>
              <a:rPr sz="720" b="0" dirty="0">
                <a:solidFill>
                  <a:srgbClr val="DCE2EC"/>
                </a:solidFill>
                <a:latin typeface="Arial"/>
              </a:rPr>
              <a:t>CEQA, Army Corps &amp; Water Quality Expert</a:t>
            </a:r>
          </a:p>
        </p:txBody>
      </p:sp>
      <p:sp>
        <p:nvSpPr>
          <p:cNvPr id="20" name="Rounded Rectangle 19"/>
          <p:cNvSpPr/>
          <p:nvPr/>
        </p:nvSpPr>
        <p:spPr>
          <a:xfrm>
            <a:off x="5102352" y="1005840"/>
            <a:ext cx="2212848" cy="4039362"/>
          </a:xfrm>
          <a:prstGeom prst="roundRect">
            <a:avLst>
              <a:gd name="adj" fmla="val 3500"/>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dane.jpg"/>
          <p:cNvPicPr>
            <a:picLocks noChangeAspect="1"/>
          </p:cNvPicPr>
          <p:nvPr/>
        </p:nvPicPr>
        <p:blipFill>
          <a:blip r:embed="rId4"/>
          <a:stretch>
            <a:fillRect/>
          </a:stretch>
        </p:blipFill>
        <p:spPr>
          <a:xfrm>
            <a:off x="5522976" y="1133856"/>
            <a:ext cx="1371600" cy="1691640"/>
          </a:xfrm>
          <a:prstGeom prst="rect">
            <a:avLst/>
          </a:prstGeom>
        </p:spPr>
      </p:pic>
      <p:sp>
        <p:nvSpPr>
          <p:cNvPr id="22" name="TextBox 21"/>
          <p:cNvSpPr txBox="1"/>
          <p:nvPr/>
        </p:nvSpPr>
        <p:spPr>
          <a:xfrm>
            <a:off x="5248656" y="2935224"/>
            <a:ext cx="1920240" cy="201168"/>
          </a:xfrm>
          <a:prstGeom prst="rect">
            <a:avLst/>
          </a:prstGeom>
          <a:noFill/>
        </p:spPr>
        <p:txBody>
          <a:bodyPr wrap="square" lIns="0" tIns="0" rIns="0" bIns="0" anchor="t">
            <a:spAutoFit/>
          </a:bodyPr>
          <a:lstStyle/>
          <a:p>
            <a:pPr algn="l"/>
            <a:r>
              <a:rPr sz="1150" b="1">
                <a:solidFill>
                  <a:srgbClr val="C9A227"/>
                </a:solidFill>
                <a:latin typeface="Arial"/>
              </a:rPr>
              <a:t>DANE REINHART</a:t>
            </a:r>
          </a:p>
        </p:txBody>
      </p:sp>
      <p:sp>
        <p:nvSpPr>
          <p:cNvPr id="23" name="TextBox 22"/>
          <p:cNvSpPr txBox="1"/>
          <p:nvPr/>
        </p:nvSpPr>
        <p:spPr>
          <a:xfrm>
            <a:off x="5248656" y="3136392"/>
            <a:ext cx="1920240" cy="182880"/>
          </a:xfrm>
          <a:prstGeom prst="rect">
            <a:avLst/>
          </a:prstGeom>
          <a:noFill/>
        </p:spPr>
        <p:txBody>
          <a:bodyPr wrap="square" lIns="0" tIns="0" rIns="0" bIns="0" anchor="t">
            <a:spAutoFit/>
          </a:bodyPr>
          <a:lstStyle/>
          <a:p>
            <a:pPr algn="l"/>
            <a:r>
              <a:rPr sz="900" b="0">
                <a:solidFill>
                  <a:srgbClr val="FFFFFF"/>
                </a:solidFill>
                <a:latin typeface="Arial"/>
              </a:rPr>
              <a:t>VP, Finance</a:t>
            </a:r>
          </a:p>
        </p:txBody>
      </p:sp>
      <p:sp>
        <p:nvSpPr>
          <p:cNvPr id="24" name="Rectangle 23"/>
          <p:cNvSpPr/>
          <p:nvPr/>
        </p:nvSpPr>
        <p:spPr>
          <a:xfrm>
            <a:off x="5248656" y="3355848"/>
            <a:ext cx="1920240" cy="1143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248656" y="3447288"/>
            <a:ext cx="1920240" cy="1143000"/>
          </a:xfrm>
          <a:prstGeom prst="rect">
            <a:avLst/>
          </a:prstGeom>
          <a:noFill/>
        </p:spPr>
        <p:txBody>
          <a:bodyPr wrap="square" lIns="0" tIns="0" rIns="0" bIns="0" anchor="t">
            <a:spAutoFit/>
          </a:bodyPr>
          <a:lstStyle/>
          <a:p>
            <a:pPr algn="l">
              <a:lnSpc>
                <a:spcPct val="112000"/>
              </a:lnSpc>
            </a:pPr>
            <a:r>
              <a:rPr sz="720" b="0">
                <a:solidFill>
                  <a:srgbClr val="DCE2EC"/>
                </a:solidFill>
                <a:latin typeface="Arial"/>
              </a:rPr>
              <a:t>Institutional real estate finance professional with nearly a decade at Hayden Properties, Presidium, and Balboa Real Estate Partners. Led projects totaling $800M+ in transaction volume and 18,000+ units managed. Expert in proforma modeling, Return on Investment analysis, and investor reporting.</a:t>
            </a:r>
          </a:p>
        </p:txBody>
      </p:sp>
      <p:sp>
        <p:nvSpPr>
          <p:cNvPr id="26" name="TextBox 25"/>
          <p:cNvSpPr txBox="1"/>
          <p:nvPr/>
        </p:nvSpPr>
        <p:spPr>
          <a:xfrm>
            <a:off x="5248656" y="4398264"/>
            <a:ext cx="1920240" cy="868680"/>
          </a:xfrm>
          <a:prstGeom prst="rect">
            <a:avLst/>
          </a:prstGeom>
          <a:noFill/>
        </p:spPr>
        <p:txBody>
          <a:bodyPr wrap="square" lIns="0" tIns="0" rIns="0" bIns="0" anchor="t">
            <a:spAutoFit/>
          </a:bodyPr>
          <a:lstStyle/>
          <a:p>
            <a:pPr algn="l">
              <a:lnSpc>
                <a:spcPct val="100000"/>
              </a:lnSpc>
              <a:spcAft>
                <a:spcPts val="250"/>
              </a:spcAft>
            </a:pPr>
            <a:r>
              <a:rPr sz="650" b="0" dirty="0">
                <a:solidFill>
                  <a:srgbClr val="C9A227"/>
                </a:solidFill>
                <a:latin typeface="Arial"/>
              </a:rPr>
              <a:t>●  </a:t>
            </a:r>
            <a:r>
              <a:rPr sz="720" b="0" dirty="0">
                <a:solidFill>
                  <a:srgbClr val="DCE2EC"/>
                </a:solidFill>
                <a:latin typeface="Arial"/>
              </a:rPr>
              <a:t>MS Finance, SMU Cox School of Business</a:t>
            </a:r>
          </a:p>
          <a:p>
            <a:pPr algn="l">
              <a:lnSpc>
                <a:spcPct val="100000"/>
              </a:lnSpc>
              <a:spcAft>
                <a:spcPts val="250"/>
              </a:spcAft>
            </a:pPr>
            <a:r>
              <a:rPr sz="650" b="0" dirty="0">
                <a:solidFill>
                  <a:srgbClr val="C9A227"/>
                </a:solidFill>
                <a:latin typeface="Arial"/>
              </a:rPr>
              <a:t>●  </a:t>
            </a:r>
            <a:r>
              <a:rPr sz="720" b="0" dirty="0">
                <a:solidFill>
                  <a:srgbClr val="DCE2EC"/>
                </a:solidFill>
                <a:latin typeface="Arial"/>
              </a:rPr>
              <a:t>BA Economics, Arizona State University</a:t>
            </a:r>
          </a:p>
          <a:p>
            <a:pPr algn="l">
              <a:lnSpc>
                <a:spcPct val="100000"/>
              </a:lnSpc>
              <a:spcAft>
                <a:spcPts val="250"/>
              </a:spcAft>
            </a:pPr>
            <a:r>
              <a:rPr sz="650" b="0" dirty="0">
                <a:solidFill>
                  <a:srgbClr val="C9A227"/>
                </a:solidFill>
                <a:latin typeface="Arial"/>
              </a:rPr>
              <a:t>●  </a:t>
            </a:r>
            <a:r>
              <a:rPr sz="720" b="0" dirty="0">
                <a:solidFill>
                  <a:srgbClr val="DCE2EC"/>
                </a:solidFill>
                <a:latin typeface="Arial"/>
              </a:rPr>
              <a:t>Acquisitions &amp; Asset Management</a:t>
            </a:r>
          </a:p>
          <a:p>
            <a:pPr algn="l">
              <a:lnSpc>
                <a:spcPct val="100000"/>
              </a:lnSpc>
              <a:spcAft>
                <a:spcPts val="250"/>
              </a:spcAft>
            </a:pPr>
            <a:r>
              <a:rPr sz="650" b="0" dirty="0">
                <a:solidFill>
                  <a:srgbClr val="C9A227"/>
                </a:solidFill>
                <a:latin typeface="Arial"/>
              </a:rPr>
              <a:t>●  </a:t>
            </a:r>
            <a:r>
              <a:rPr sz="720" b="0" dirty="0">
                <a:solidFill>
                  <a:srgbClr val="DCE2EC"/>
                </a:solidFill>
                <a:latin typeface="Arial"/>
              </a:rPr>
              <a:t>Return on Investment &amp; Cash Flow Analysis</a:t>
            </a:r>
          </a:p>
        </p:txBody>
      </p:sp>
      <p:sp>
        <p:nvSpPr>
          <p:cNvPr id="27" name="TextBox 26"/>
          <p:cNvSpPr txBox="1"/>
          <p:nvPr/>
        </p:nvSpPr>
        <p:spPr>
          <a:xfrm>
            <a:off x="502920" y="5340096"/>
            <a:ext cx="6766560" cy="237744"/>
          </a:xfrm>
          <a:prstGeom prst="rect">
            <a:avLst/>
          </a:prstGeom>
          <a:noFill/>
        </p:spPr>
        <p:txBody>
          <a:bodyPr wrap="square" lIns="0" tIns="0" rIns="0" bIns="0" anchor="t">
            <a:spAutoFit/>
          </a:bodyPr>
          <a:lstStyle/>
          <a:p>
            <a:pPr algn="ctr"/>
            <a:r>
              <a:rPr sz="1150" b="1">
                <a:solidFill>
                  <a:srgbClr val="C9A227"/>
                </a:solidFill>
                <a:latin typeface="Arial"/>
              </a:rPr>
              <a:t>SELECT PROJECTS &amp; SITE PLANS</a:t>
            </a:r>
          </a:p>
        </p:txBody>
      </p:sp>
      <p:pic>
        <p:nvPicPr>
          <p:cNvPr id="28" name="Picture 27" descr="bougher.jpg"/>
          <p:cNvPicPr>
            <a:picLocks noChangeAspect="1"/>
          </p:cNvPicPr>
          <p:nvPr/>
        </p:nvPicPr>
        <p:blipFill>
          <a:blip r:embed="rId5"/>
          <a:stretch>
            <a:fillRect/>
          </a:stretch>
        </p:blipFill>
        <p:spPr>
          <a:xfrm>
            <a:off x="502920" y="5650992"/>
            <a:ext cx="1627632" cy="1389888"/>
          </a:xfrm>
          <a:prstGeom prst="rect">
            <a:avLst/>
          </a:prstGeom>
          <a:ln w="9525">
            <a:solidFill>
              <a:srgbClr val="4A5A75"/>
            </a:solidFill>
          </a:ln>
        </p:spPr>
      </p:pic>
      <p:sp>
        <p:nvSpPr>
          <p:cNvPr id="29" name="TextBox 28"/>
          <p:cNvSpPr txBox="1"/>
          <p:nvPr/>
        </p:nvSpPr>
        <p:spPr>
          <a:xfrm>
            <a:off x="502920" y="7077456"/>
            <a:ext cx="1627632" cy="182880"/>
          </a:xfrm>
          <a:prstGeom prst="rect">
            <a:avLst/>
          </a:prstGeom>
          <a:noFill/>
        </p:spPr>
        <p:txBody>
          <a:bodyPr wrap="square" lIns="0" tIns="0" rIns="0" bIns="0" anchor="t">
            <a:spAutoFit/>
          </a:bodyPr>
          <a:lstStyle/>
          <a:p>
            <a:pPr algn="ctr"/>
            <a:r>
              <a:rPr sz="750" b="1">
                <a:solidFill>
                  <a:srgbClr val="DCE2EC"/>
                </a:solidFill>
                <a:latin typeface="Arial"/>
              </a:rPr>
              <a:t>Bougher Road — Vista</a:t>
            </a:r>
          </a:p>
        </p:txBody>
      </p:sp>
      <p:pic>
        <p:nvPicPr>
          <p:cNvPr id="30" name="Picture 29" descr="aberdeen.jpg"/>
          <p:cNvPicPr>
            <a:picLocks noChangeAspect="1"/>
          </p:cNvPicPr>
          <p:nvPr/>
        </p:nvPicPr>
        <p:blipFill>
          <a:blip r:embed="rId6"/>
          <a:stretch>
            <a:fillRect/>
          </a:stretch>
        </p:blipFill>
        <p:spPr>
          <a:xfrm>
            <a:off x="2221992" y="5650992"/>
            <a:ext cx="1627632" cy="1389888"/>
          </a:xfrm>
          <a:prstGeom prst="rect">
            <a:avLst/>
          </a:prstGeom>
          <a:ln w="9525">
            <a:solidFill>
              <a:srgbClr val="4A5A75"/>
            </a:solidFill>
          </a:ln>
        </p:spPr>
      </p:pic>
      <p:sp>
        <p:nvSpPr>
          <p:cNvPr id="31" name="TextBox 30"/>
          <p:cNvSpPr txBox="1"/>
          <p:nvPr/>
        </p:nvSpPr>
        <p:spPr>
          <a:xfrm>
            <a:off x="2221992" y="7077456"/>
            <a:ext cx="1627632" cy="182880"/>
          </a:xfrm>
          <a:prstGeom prst="rect">
            <a:avLst/>
          </a:prstGeom>
          <a:noFill/>
        </p:spPr>
        <p:txBody>
          <a:bodyPr wrap="square" lIns="0" tIns="0" rIns="0" bIns="0" anchor="t">
            <a:spAutoFit/>
          </a:bodyPr>
          <a:lstStyle/>
          <a:p>
            <a:pPr algn="ctr"/>
            <a:r>
              <a:rPr sz="750" b="1">
                <a:solidFill>
                  <a:srgbClr val="DCE2EC"/>
                </a:solidFill>
                <a:latin typeface="Arial"/>
              </a:rPr>
              <a:t>Aberdeen Ave — San Marcos</a:t>
            </a:r>
          </a:p>
        </p:txBody>
      </p:sp>
      <p:pic>
        <p:nvPicPr>
          <p:cNvPr id="32" name="Picture 31" descr="noll.jpg"/>
          <p:cNvPicPr>
            <a:picLocks noChangeAspect="1"/>
          </p:cNvPicPr>
          <p:nvPr/>
        </p:nvPicPr>
        <p:blipFill>
          <a:blip r:embed="rId7"/>
          <a:stretch>
            <a:fillRect/>
          </a:stretch>
        </p:blipFill>
        <p:spPr>
          <a:xfrm>
            <a:off x="3941064" y="5650992"/>
            <a:ext cx="1627632" cy="1389888"/>
          </a:xfrm>
          <a:prstGeom prst="rect">
            <a:avLst/>
          </a:prstGeom>
          <a:ln w="9525">
            <a:solidFill>
              <a:srgbClr val="4A5A75"/>
            </a:solidFill>
          </a:ln>
        </p:spPr>
      </p:pic>
      <p:sp>
        <p:nvSpPr>
          <p:cNvPr id="33" name="TextBox 32"/>
          <p:cNvSpPr txBox="1"/>
          <p:nvPr/>
        </p:nvSpPr>
        <p:spPr>
          <a:xfrm>
            <a:off x="3941064" y="7077456"/>
            <a:ext cx="1627632" cy="182880"/>
          </a:xfrm>
          <a:prstGeom prst="rect">
            <a:avLst/>
          </a:prstGeom>
          <a:noFill/>
        </p:spPr>
        <p:txBody>
          <a:bodyPr wrap="square" lIns="0" tIns="0" rIns="0" bIns="0" anchor="t">
            <a:spAutoFit/>
          </a:bodyPr>
          <a:lstStyle/>
          <a:p>
            <a:pPr algn="ctr"/>
            <a:r>
              <a:rPr sz="750" b="1">
                <a:solidFill>
                  <a:srgbClr val="DCE2EC"/>
                </a:solidFill>
                <a:latin typeface="Arial"/>
              </a:rPr>
              <a:t>Noll Property — Vista</a:t>
            </a:r>
          </a:p>
        </p:txBody>
      </p:sp>
      <p:sp>
        <p:nvSpPr>
          <p:cNvPr id="34" name="Rounded Rectangle 33"/>
          <p:cNvSpPr/>
          <p:nvPr/>
        </p:nvSpPr>
        <p:spPr>
          <a:xfrm>
            <a:off x="5660136" y="5650992"/>
            <a:ext cx="1627632" cy="1389888"/>
          </a:xfrm>
          <a:prstGeom prst="roundRect">
            <a:avLst>
              <a:gd name="adj" fmla="val 4000"/>
            </a:avLst>
          </a:prstGeom>
          <a:solidFill>
            <a:srgbClr val="1B3A66"/>
          </a:solidFill>
          <a:ln w="1270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660136" y="6181344"/>
            <a:ext cx="1627632" cy="365760"/>
          </a:xfrm>
          <a:prstGeom prst="rect">
            <a:avLst/>
          </a:prstGeom>
          <a:noFill/>
        </p:spPr>
        <p:txBody>
          <a:bodyPr wrap="square" lIns="0" tIns="0" rIns="0" bIns="0" anchor="t">
            <a:spAutoFit/>
          </a:bodyPr>
          <a:lstStyle/>
          <a:p>
            <a:pPr algn="ctr">
              <a:lnSpc>
                <a:spcPct val="100000"/>
              </a:lnSpc>
            </a:pPr>
            <a:r>
              <a:rPr sz="900" b="1">
                <a:solidFill>
                  <a:srgbClr val="C9A227"/>
                </a:solidFill>
                <a:latin typeface="Arial"/>
              </a:rPr>
              <a:t>Add 4th</a:t>
            </a:r>
          </a:p>
          <a:p>
            <a:pPr algn="ctr">
              <a:lnSpc>
                <a:spcPct val="100000"/>
              </a:lnSpc>
            </a:pPr>
            <a:r>
              <a:rPr sz="900" b="1">
                <a:solidFill>
                  <a:srgbClr val="C9A227"/>
                </a:solidFill>
                <a:latin typeface="Arial"/>
              </a:rPr>
              <a:t>project image</a:t>
            </a:r>
          </a:p>
        </p:txBody>
      </p:sp>
      <p:sp>
        <p:nvSpPr>
          <p:cNvPr id="36" name="TextBox 35"/>
          <p:cNvSpPr txBox="1"/>
          <p:nvPr/>
        </p:nvSpPr>
        <p:spPr>
          <a:xfrm>
            <a:off x="502920" y="7406640"/>
            <a:ext cx="6766560" cy="1005840"/>
          </a:xfrm>
          <a:prstGeom prst="rect">
            <a:avLst/>
          </a:prstGeom>
          <a:noFill/>
        </p:spPr>
        <p:txBody>
          <a:bodyPr wrap="square" lIns="0" tIns="0" rIns="0" bIns="0" anchor="t">
            <a:spAutoFit/>
          </a:bodyPr>
          <a:lstStyle/>
          <a:p>
            <a:pPr algn="ctr">
              <a:lnSpc>
                <a:spcPct val="115000"/>
              </a:lnSpc>
            </a:pPr>
            <a:r>
              <a:rPr sz="660" b="0">
                <a:solidFill>
                  <a:srgbClr val="A9B4C6"/>
                </a:solidFill>
                <a:latin typeface="Arial"/>
              </a:rPr>
              <a:t>This material is for informational purposes only and is not an offer to sell or a solicitation of an offer to buy any security. Securities are offered only to accredited investors, and only by means of a Private Placement Memorandum and related subscription documents for a specific project. Investments in land entitlement are speculative, illiquid, and involve a high degree of risk, including the possible loss of the entire investment. Any returns described, including the preferred return, are targets and are not guaranteed. Past performance, including the prior experience of TrendAmerica's principals at other companies, does not indicate future results. Forward-looking statements are subject to risks and uncertainties and may not occur. No federal or state securities regulator has approved this offering or these materials. TrendAmerica is not a registered broker-dealer or investment adviser. Prospective investors should consult their own legal, tax, and financial advisors.</a:t>
            </a:r>
          </a:p>
        </p:txBody>
      </p:sp>
      <p:sp>
        <p:nvSpPr>
          <p:cNvPr id="37" name="Rectangle 36"/>
          <p:cNvSpPr/>
          <p:nvPr/>
        </p:nvSpPr>
        <p:spPr>
          <a:xfrm>
            <a:off x="0" y="9006840"/>
            <a:ext cx="7772400" cy="10515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0" y="9107424"/>
            <a:ext cx="7772400" cy="384048"/>
          </a:xfrm>
          <a:prstGeom prst="rect">
            <a:avLst/>
          </a:prstGeom>
          <a:noFill/>
        </p:spPr>
        <p:txBody>
          <a:bodyPr wrap="square" lIns="0" tIns="0" rIns="0" bIns="0" anchor="t">
            <a:spAutoFit/>
          </a:bodyPr>
          <a:lstStyle/>
          <a:p>
            <a:pPr algn="ctr"/>
            <a:r>
              <a:rPr sz="2200" b="1" dirty="0">
                <a:solidFill>
                  <a:srgbClr val="0D2847"/>
                </a:solidFill>
                <a:latin typeface="Arial"/>
              </a:rPr>
              <a:t>READY TO LEARN MORE?</a:t>
            </a:r>
          </a:p>
        </p:txBody>
      </p:sp>
      <p:sp>
        <p:nvSpPr>
          <p:cNvPr id="39" name="TextBox 38"/>
          <p:cNvSpPr txBox="1"/>
          <p:nvPr/>
        </p:nvSpPr>
        <p:spPr>
          <a:xfrm>
            <a:off x="0" y="9509760"/>
            <a:ext cx="7772400" cy="274320"/>
          </a:xfrm>
          <a:prstGeom prst="rect">
            <a:avLst/>
          </a:prstGeom>
          <a:noFill/>
        </p:spPr>
        <p:txBody>
          <a:bodyPr wrap="square" lIns="0" tIns="0" rIns="0" bIns="0" anchor="t">
            <a:spAutoFit/>
          </a:bodyPr>
          <a:lstStyle/>
          <a:p>
            <a:pPr algn="ctr"/>
            <a:r>
              <a:rPr sz="1300" b="0">
                <a:solidFill>
                  <a:srgbClr val="0D2847"/>
                </a:solidFill>
                <a:latin typeface="Arial"/>
              </a:rPr>
              <a:t>Reach out by phone or email:  </a:t>
            </a:r>
            <a:r>
              <a:rPr sz="1300" b="1">
                <a:solidFill>
                  <a:srgbClr val="0D2847"/>
                </a:solidFill>
                <a:latin typeface="Arial"/>
              </a:rPr>
              <a:t>(619) 329-1350</a:t>
            </a:r>
            <a:r>
              <a:rPr sz="1300" b="0">
                <a:solidFill>
                  <a:srgbClr val="0D2847"/>
                </a:solidFill>
                <a:latin typeface="Arial"/>
              </a:rPr>
              <a:t>   |   </a:t>
            </a:r>
            <a:r>
              <a:rPr sz="1300" b="1">
                <a:solidFill>
                  <a:srgbClr val="0D2847"/>
                </a:solidFill>
                <a:latin typeface="Arial"/>
              </a:rPr>
              <a:t>info@TrendAmericaLand.com</a:t>
            </a:r>
          </a:p>
        </p:txBody>
      </p:sp>
      <p:sp>
        <p:nvSpPr>
          <p:cNvPr id="40" name="TextBox 39"/>
          <p:cNvSpPr txBox="1"/>
          <p:nvPr/>
        </p:nvSpPr>
        <p:spPr>
          <a:xfrm>
            <a:off x="0" y="9820656"/>
            <a:ext cx="7772400" cy="201168"/>
          </a:xfrm>
          <a:prstGeom prst="rect">
            <a:avLst/>
          </a:prstGeom>
          <a:noFill/>
        </p:spPr>
        <p:txBody>
          <a:bodyPr wrap="square" lIns="0" tIns="0" rIns="0" bIns="0" anchor="t">
            <a:spAutoFit/>
          </a:bodyPr>
          <a:lstStyle/>
          <a:p>
            <a:pPr algn="ctr"/>
            <a:r>
              <a:rPr sz="850" b="0">
                <a:solidFill>
                  <a:srgbClr val="0D2847"/>
                </a:solidFill>
                <a:latin typeface="Arial"/>
              </a:rPr>
              <a:t>www.TrendAmericaLand.com  •  California Residential Land Development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2472</TotalTime>
  <Words>896</Words>
  <Application>Microsoft Macintosh PowerPoint</Application>
  <PresentationFormat>Custom</PresentationFormat>
  <Paragraphs>81</Paragraphs>
  <Slides>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Dane Reinhart</cp:lastModifiedBy>
  <cp:revision>4</cp:revision>
  <dcterms:created xsi:type="dcterms:W3CDTF">2013-01-27T09:14:16Z</dcterms:created>
  <dcterms:modified xsi:type="dcterms:W3CDTF">2026-06-07T16:18:54Z</dcterms:modified>
  <cp:category/>
</cp:coreProperties>
</file>