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7772400" cy="1005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10058400"/>
          </a:xfrm>
          <a:prstGeom prst="rect">
            <a:avLst/>
          </a:prstGeom>
          <a:solidFill>
            <a:srgbClr val="0D28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92608"/>
            <a:ext cx="6858000" cy="502920"/>
          </a:xfrm>
          <a:prstGeom prst="rect">
            <a:avLst/>
          </a:prstGeom>
          <a:noFill/>
        </p:spPr>
        <p:txBody>
          <a:bodyPr wrap="square" anchor="t" lIns="0" rIns="0" tIns="0" bIns="0">
            <a:spAutoFit/>
          </a:bodyPr>
          <a:lstStyle/>
          <a:p>
            <a:pPr algn="ctr"/>
            <a:r>
              <a:rPr sz="3000" b="1">
                <a:solidFill>
                  <a:srgbClr val="FFFFFF"/>
                </a:solidFill>
                <a:latin typeface="Arial"/>
              </a:rPr>
              <a:t>TREND</a:t>
            </a:r>
            <a:r>
              <a:rPr sz="3000" b="1">
                <a:solidFill>
                  <a:srgbClr val="C9A227"/>
                </a:solidFill>
                <a:latin typeface="Arial"/>
              </a:rPr>
              <a:t>AMERICA</a:t>
            </a:r>
          </a:p>
        </p:txBody>
      </p:sp>
      <p:sp>
        <p:nvSpPr>
          <p:cNvPr id="4" name="TextBox 3"/>
          <p:cNvSpPr txBox="1"/>
          <p:nvPr/>
        </p:nvSpPr>
        <p:spPr>
          <a:xfrm>
            <a:off x="457200" y="768096"/>
            <a:ext cx="6858000" cy="274320"/>
          </a:xfrm>
          <a:prstGeom prst="rect">
            <a:avLst/>
          </a:prstGeom>
          <a:noFill/>
        </p:spPr>
        <p:txBody>
          <a:bodyPr wrap="square" anchor="t" lIns="0" rIns="0" tIns="0" bIns="0">
            <a:spAutoFit/>
          </a:bodyPr>
          <a:lstStyle/>
          <a:p>
            <a:pPr algn="ctr"/>
            <a:r>
              <a:rPr sz="900" b="1">
                <a:solidFill>
                  <a:srgbClr val="C9A227"/>
                </a:solidFill>
                <a:latin typeface="Arial"/>
              </a:rPr>
              <a:t>C A L I F O R N I A   R E S I D E N T I A L   L A N D   D E V E L O P M E N T</a:t>
            </a:r>
          </a:p>
        </p:txBody>
      </p:sp>
      <p:sp>
        <p:nvSpPr>
          <p:cNvPr id="5" name="Rounded Rectangle 4"/>
          <p:cNvSpPr/>
          <p:nvPr/>
        </p:nvSpPr>
        <p:spPr>
          <a:xfrm>
            <a:off x="502920" y="1143000"/>
            <a:ext cx="6766560" cy="1143000"/>
          </a:xfrm>
          <a:prstGeom prst="roundRect">
            <a:avLst>
              <a:gd name="adj" fmla="val 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43584"/>
            <a:ext cx="6400800" cy="228600"/>
          </a:xfrm>
          <a:prstGeom prst="rect">
            <a:avLst/>
          </a:prstGeom>
          <a:noFill/>
        </p:spPr>
        <p:txBody>
          <a:bodyPr wrap="square" anchor="t" lIns="0" rIns="0" tIns="0" bIns="0">
            <a:spAutoFit/>
          </a:bodyPr>
          <a:lstStyle/>
          <a:p>
            <a:pPr algn="ctr"/>
            <a:r>
              <a:rPr sz="900" b="1">
                <a:solidFill>
                  <a:srgbClr val="0D2847"/>
                </a:solidFill>
                <a:latin typeface="Arial"/>
              </a:rPr>
              <a:t>I N V E S T M E N T   O P P O R T U N I T Y</a:t>
            </a:r>
          </a:p>
        </p:txBody>
      </p:sp>
      <p:sp>
        <p:nvSpPr>
          <p:cNvPr id="7" name="TextBox 6"/>
          <p:cNvSpPr txBox="1"/>
          <p:nvPr/>
        </p:nvSpPr>
        <p:spPr>
          <a:xfrm>
            <a:off x="685800" y="1444752"/>
            <a:ext cx="6400800" cy="502920"/>
          </a:xfrm>
          <a:prstGeom prst="rect">
            <a:avLst/>
          </a:prstGeom>
          <a:noFill/>
        </p:spPr>
        <p:txBody>
          <a:bodyPr wrap="square" anchor="t" lIns="0" rIns="0" tIns="0" bIns="0">
            <a:spAutoFit/>
          </a:bodyPr>
          <a:lstStyle/>
          <a:p>
            <a:pPr algn="ctr"/>
            <a:r>
              <a:rPr sz="2700" b="1">
                <a:solidFill>
                  <a:srgbClr val="0D2847"/>
                </a:solidFill>
                <a:latin typeface="Arial"/>
              </a:rPr>
              <a:t>20% Annualized Preferred Return</a:t>
            </a:r>
          </a:p>
        </p:txBody>
      </p:sp>
      <p:sp>
        <p:nvSpPr>
          <p:cNvPr id="8" name="TextBox 7"/>
          <p:cNvSpPr txBox="1"/>
          <p:nvPr/>
        </p:nvSpPr>
        <p:spPr>
          <a:xfrm>
            <a:off x="685800" y="1938528"/>
            <a:ext cx="6400800" cy="256032"/>
          </a:xfrm>
          <a:prstGeom prst="rect">
            <a:avLst/>
          </a:prstGeom>
          <a:noFill/>
        </p:spPr>
        <p:txBody>
          <a:bodyPr wrap="square" anchor="t" lIns="0" rIns="0" tIns="0" bIns="0">
            <a:spAutoFit/>
          </a:bodyPr>
          <a:lstStyle/>
          <a:p>
            <a:pPr algn="ctr"/>
            <a:r>
              <a:rPr sz="1200" b="0">
                <a:solidFill>
                  <a:srgbClr val="0D2847"/>
                </a:solidFill>
                <a:latin typeface="Arial"/>
              </a:rPr>
              <a:t>California Residential Real Estate Development Projects</a:t>
            </a:r>
          </a:p>
        </p:txBody>
      </p:sp>
      <p:sp>
        <p:nvSpPr>
          <p:cNvPr id="9" name="TextBox 8"/>
          <p:cNvSpPr txBox="1"/>
          <p:nvPr/>
        </p:nvSpPr>
        <p:spPr>
          <a:xfrm>
            <a:off x="502920" y="2487168"/>
            <a:ext cx="6766560" cy="256032"/>
          </a:xfrm>
          <a:prstGeom prst="rect">
            <a:avLst/>
          </a:prstGeom>
          <a:noFill/>
        </p:spPr>
        <p:txBody>
          <a:bodyPr wrap="square" anchor="t" lIns="0" rIns="0" tIns="0" bIns="0">
            <a:spAutoFit/>
          </a:bodyPr>
          <a:lstStyle/>
          <a:p>
            <a:pPr algn="ctr"/>
            <a:r>
              <a:rPr sz="1250" b="1">
                <a:solidFill>
                  <a:srgbClr val="C9A227"/>
                </a:solidFill>
                <a:latin typeface="Arial"/>
              </a:rPr>
              <a:t>WHY NOW?  CALIFORNIA'S HOUSING SHORTAGE CRISIS</a:t>
            </a:r>
          </a:p>
        </p:txBody>
      </p:sp>
      <p:sp>
        <p:nvSpPr>
          <p:cNvPr id="10" name="Rectangle 9"/>
          <p:cNvSpPr/>
          <p:nvPr/>
        </p:nvSpPr>
        <p:spPr>
          <a:xfrm>
            <a:off x="502920" y="2743200"/>
            <a:ext cx="6766560" cy="1143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834640"/>
            <a:ext cx="6309360" cy="566928"/>
          </a:xfrm>
          <a:prstGeom prst="rect">
            <a:avLst/>
          </a:prstGeom>
          <a:noFill/>
        </p:spPr>
        <p:txBody>
          <a:bodyPr wrap="square" anchor="t" lIns="0" rIns="0" tIns="0" bIns="0">
            <a:spAutoFit/>
          </a:bodyPr>
          <a:lstStyle/>
          <a:p>
            <a:pPr algn="ctr">
              <a:lnSpc>
                <a:spcPct val="115000"/>
              </a:lnSpc>
            </a:pPr>
            <a:r>
              <a:rPr sz="950" b="0">
                <a:solidFill>
                  <a:srgbClr val="DCE2EC"/>
                </a:solidFill>
                <a:latin typeface="Arial"/>
              </a:rPr>
              <a:t>California has accumulated an unmet housing backlog of nearly </a:t>
            </a:r>
            <a:r>
              <a:rPr sz="950" b="1">
                <a:solidFill>
                  <a:srgbClr val="DCE2EC"/>
                </a:solidFill>
                <a:latin typeface="Arial"/>
              </a:rPr>
              <a:t>2,000,000 units</a:t>
            </a:r>
            <a:r>
              <a:rPr sz="950" b="0">
                <a:solidFill>
                  <a:srgbClr val="DCE2EC"/>
                </a:solidFill>
                <a:latin typeface="Arial"/>
              </a:rPr>
              <a:t> and must provide at least 180,000 new homes annually — yet only ~80,000 are built each year. Homebuilders are racing to acquire entitled land, and TrendAmerica delivers it.</a:t>
            </a:r>
          </a:p>
        </p:txBody>
      </p:sp>
      <p:sp>
        <p:nvSpPr>
          <p:cNvPr id="12" name="TextBox 11"/>
          <p:cNvSpPr txBox="1"/>
          <p:nvPr/>
        </p:nvSpPr>
        <p:spPr>
          <a:xfrm>
            <a:off x="502920" y="3474720"/>
            <a:ext cx="6766560" cy="237744"/>
          </a:xfrm>
          <a:prstGeom prst="rect">
            <a:avLst/>
          </a:prstGeom>
          <a:noFill/>
        </p:spPr>
        <p:txBody>
          <a:bodyPr wrap="square" anchor="t" lIns="0" rIns="0" tIns="0" bIns="0">
            <a:spAutoFit/>
          </a:bodyPr>
          <a:lstStyle/>
          <a:p>
            <a:pPr algn="ctr"/>
            <a:r>
              <a:rPr sz="1200" b="1">
                <a:solidFill>
                  <a:srgbClr val="C9A227"/>
                </a:solidFill>
                <a:latin typeface="Arial"/>
              </a:rPr>
              <a:t>OUR FOUR-STEP MODEL</a:t>
            </a:r>
          </a:p>
        </p:txBody>
      </p:sp>
      <p:sp>
        <p:nvSpPr>
          <p:cNvPr id="13" name="Rounded Rectangle 12"/>
          <p:cNvSpPr/>
          <p:nvPr/>
        </p:nvSpPr>
        <p:spPr>
          <a:xfrm>
            <a:off x="502920" y="3767328"/>
            <a:ext cx="1627632" cy="1298448"/>
          </a:xfrm>
          <a:prstGeom prst="roundRect">
            <a:avLst>
              <a:gd name="adj" fmla="val 10000"/>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61288" y="3858768"/>
            <a:ext cx="310896" cy="310896"/>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D2847"/>
                </a:solidFill>
                <a:latin typeface="Arial"/>
              </a:rPr>
              <a:t>1</a:t>
            </a:r>
          </a:p>
        </p:txBody>
      </p:sp>
      <p:sp>
        <p:nvSpPr>
          <p:cNvPr id="15" name="TextBox 14"/>
          <p:cNvSpPr txBox="1"/>
          <p:nvPr/>
        </p:nvSpPr>
        <p:spPr>
          <a:xfrm>
            <a:off x="557784" y="4242816"/>
            <a:ext cx="1517904" cy="219456"/>
          </a:xfrm>
          <a:prstGeom prst="rect">
            <a:avLst/>
          </a:prstGeom>
          <a:noFill/>
        </p:spPr>
        <p:txBody>
          <a:bodyPr wrap="square" anchor="t" lIns="0" rIns="0" tIns="0" bIns="0">
            <a:spAutoFit/>
          </a:bodyPr>
          <a:lstStyle/>
          <a:p>
            <a:pPr algn="ctr"/>
            <a:r>
              <a:rPr sz="1050" b="1">
                <a:solidFill>
                  <a:srgbClr val="C9A227"/>
                </a:solidFill>
                <a:latin typeface="Arial"/>
              </a:rPr>
              <a:t>CONTROL IT</a:t>
            </a:r>
          </a:p>
        </p:txBody>
      </p:sp>
      <p:sp>
        <p:nvSpPr>
          <p:cNvPr id="16" name="TextBox 15"/>
          <p:cNvSpPr txBox="1"/>
          <p:nvPr/>
        </p:nvSpPr>
        <p:spPr>
          <a:xfrm>
            <a:off x="612648" y="4498848"/>
            <a:ext cx="1408176" cy="548640"/>
          </a:xfrm>
          <a:prstGeom prst="rect">
            <a:avLst/>
          </a:prstGeom>
          <a:noFill/>
        </p:spPr>
        <p:txBody>
          <a:bodyPr wrap="square" anchor="t" lIns="0" rIns="0" tIns="0" bIns="0">
            <a:spAutoFit/>
          </a:bodyPr>
          <a:lstStyle/>
          <a:p>
            <a:pPr algn="ctr">
              <a:lnSpc>
                <a:spcPct val="112000"/>
              </a:lnSpc>
            </a:pPr>
            <a:r>
              <a:rPr sz="760" b="0">
                <a:solidFill>
                  <a:srgbClr val="DCE2EC"/>
                </a:solidFill>
                <a:latin typeface="Arial"/>
              </a:rPr>
              <a:t>Secure land via option agreement — not ownership</a:t>
            </a:r>
          </a:p>
        </p:txBody>
      </p:sp>
      <p:sp>
        <p:nvSpPr>
          <p:cNvPr id="17" name="Rectangle 16"/>
          <p:cNvSpPr/>
          <p:nvPr/>
        </p:nvSpPr>
        <p:spPr>
          <a:xfrm>
            <a:off x="2135124" y="4375404"/>
            <a:ext cx="82296" cy="8229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221992" y="3767328"/>
            <a:ext cx="1627632" cy="1298448"/>
          </a:xfrm>
          <a:prstGeom prst="roundRect">
            <a:avLst>
              <a:gd name="adj" fmla="val 10000"/>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880360" y="3858768"/>
            <a:ext cx="310896" cy="310896"/>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D2847"/>
                </a:solidFill>
                <a:latin typeface="Arial"/>
              </a:rPr>
              <a:t>2</a:t>
            </a:r>
          </a:p>
        </p:txBody>
      </p:sp>
      <p:sp>
        <p:nvSpPr>
          <p:cNvPr id="20" name="TextBox 19"/>
          <p:cNvSpPr txBox="1"/>
          <p:nvPr/>
        </p:nvSpPr>
        <p:spPr>
          <a:xfrm>
            <a:off x="2276856" y="4242816"/>
            <a:ext cx="1517904" cy="219456"/>
          </a:xfrm>
          <a:prstGeom prst="rect">
            <a:avLst/>
          </a:prstGeom>
          <a:noFill/>
        </p:spPr>
        <p:txBody>
          <a:bodyPr wrap="square" anchor="t" lIns="0" rIns="0" tIns="0" bIns="0">
            <a:spAutoFit/>
          </a:bodyPr>
          <a:lstStyle/>
          <a:p>
            <a:pPr algn="ctr"/>
            <a:r>
              <a:rPr sz="1050" b="1">
                <a:solidFill>
                  <a:srgbClr val="C9A227"/>
                </a:solidFill>
                <a:latin typeface="Arial"/>
              </a:rPr>
              <a:t>ENTITLE IT</a:t>
            </a:r>
          </a:p>
        </p:txBody>
      </p:sp>
      <p:sp>
        <p:nvSpPr>
          <p:cNvPr id="21" name="TextBox 20"/>
          <p:cNvSpPr txBox="1"/>
          <p:nvPr/>
        </p:nvSpPr>
        <p:spPr>
          <a:xfrm>
            <a:off x="2331720" y="4498848"/>
            <a:ext cx="1408176" cy="548640"/>
          </a:xfrm>
          <a:prstGeom prst="rect">
            <a:avLst/>
          </a:prstGeom>
          <a:noFill/>
        </p:spPr>
        <p:txBody>
          <a:bodyPr wrap="square" anchor="t" lIns="0" rIns="0" tIns="0" bIns="0">
            <a:spAutoFit/>
          </a:bodyPr>
          <a:lstStyle/>
          <a:p>
            <a:pPr algn="ctr">
              <a:lnSpc>
                <a:spcPct val="112000"/>
              </a:lnSpc>
            </a:pPr>
            <a:r>
              <a:rPr sz="760" b="0">
                <a:solidFill>
                  <a:srgbClr val="DCE2EC"/>
                </a:solidFill>
                <a:latin typeface="Arial"/>
              </a:rPr>
              <a:t>Navigate City/County subdivision map approval process</a:t>
            </a:r>
          </a:p>
        </p:txBody>
      </p:sp>
      <p:sp>
        <p:nvSpPr>
          <p:cNvPr id="22" name="Rectangle 21"/>
          <p:cNvSpPr/>
          <p:nvPr/>
        </p:nvSpPr>
        <p:spPr>
          <a:xfrm>
            <a:off x="3854196" y="4375404"/>
            <a:ext cx="82296" cy="8229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941064" y="3767328"/>
            <a:ext cx="1627632" cy="1298448"/>
          </a:xfrm>
          <a:prstGeom prst="roundRect">
            <a:avLst>
              <a:gd name="adj" fmla="val 10000"/>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599432" y="3858768"/>
            <a:ext cx="310896" cy="310896"/>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D2847"/>
                </a:solidFill>
                <a:latin typeface="Arial"/>
              </a:rPr>
              <a:t>3</a:t>
            </a:r>
          </a:p>
        </p:txBody>
      </p:sp>
      <p:sp>
        <p:nvSpPr>
          <p:cNvPr id="25" name="TextBox 24"/>
          <p:cNvSpPr txBox="1"/>
          <p:nvPr/>
        </p:nvSpPr>
        <p:spPr>
          <a:xfrm>
            <a:off x="3995928" y="4242816"/>
            <a:ext cx="1517904" cy="219456"/>
          </a:xfrm>
          <a:prstGeom prst="rect">
            <a:avLst/>
          </a:prstGeom>
          <a:noFill/>
        </p:spPr>
        <p:txBody>
          <a:bodyPr wrap="square" anchor="t" lIns="0" rIns="0" tIns="0" bIns="0">
            <a:spAutoFit/>
          </a:bodyPr>
          <a:lstStyle/>
          <a:p>
            <a:pPr algn="ctr"/>
            <a:r>
              <a:rPr sz="1050" b="1">
                <a:solidFill>
                  <a:srgbClr val="C9A227"/>
                </a:solidFill>
                <a:latin typeface="Arial"/>
              </a:rPr>
              <a:t>SELL IT</a:t>
            </a:r>
          </a:p>
        </p:txBody>
      </p:sp>
      <p:sp>
        <p:nvSpPr>
          <p:cNvPr id="26" name="TextBox 25"/>
          <p:cNvSpPr txBox="1"/>
          <p:nvPr/>
        </p:nvSpPr>
        <p:spPr>
          <a:xfrm>
            <a:off x="4050792" y="4498848"/>
            <a:ext cx="1408176" cy="548640"/>
          </a:xfrm>
          <a:prstGeom prst="rect">
            <a:avLst/>
          </a:prstGeom>
          <a:noFill/>
        </p:spPr>
        <p:txBody>
          <a:bodyPr wrap="square" anchor="t" lIns="0" rIns="0" tIns="0" bIns="0">
            <a:spAutoFit/>
          </a:bodyPr>
          <a:lstStyle/>
          <a:p>
            <a:pPr algn="ctr">
              <a:lnSpc>
                <a:spcPct val="112000"/>
              </a:lnSpc>
            </a:pPr>
            <a:r>
              <a:rPr sz="760" b="0">
                <a:solidFill>
                  <a:srgbClr val="DCE2EC"/>
                </a:solidFill>
                <a:latin typeface="Arial"/>
              </a:rPr>
              <a:t>Flip entitled land to homebuilder via double escrow</a:t>
            </a:r>
          </a:p>
        </p:txBody>
      </p:sp>
      <p:sp>
        <p:nvSpPr>
          <p:cNvPr id="27" name="Rectangle 26"/>
          <p:cNvSpPr/>
          <p:nvPr/>
        </p:nvSpPr>
        <p:spPr>
          <a:xfrm>
            <a:off x="5573268" y="4375404"/>
            <a:ext cx="82296" cy="8229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660136" y="3767328"/>
            <a:ext cx="1627632" cy="1298448"/>
          </a:xfrm>
          <a:prstGeom prst="roundRect">
            <a:avLst>
              <a:gd name="adj" fmla="val 10000"/>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318504" y="3858768"/>
            <a:ext cx="310896" cy="310896"/>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D2847"/>
                </a:solidFill>
                <a:latin typeface="Arial"/>
              </a:rPr>
              <a:t>4</a:t>
            </a:r>
          </a:p>
        </p:txBody>
      </p:sp>
      <p:sp>
        <p:nvSpPr>
          <p:cNvPr id="30" name="TextBox 29"/>
          <p:cNvSpPr txBox="1"/>
          <p:nvPr/>
        </p:nvSpPr>
        <p:spPr>
          <a:xfrm>
            <a:off x="5715000" y="4242816"/>
            <a:ext cx="1517904" cy="219456"/>
          </a:xfrm>
          <a:prstGeom prst="rect">
            <a:avLst/>
          </a:prstGeom>
          <a:noFill/>
        </p:spPr>
        <p:txBody>
          <a:bodyPr wrap="square" anchor="t" lIns="0" rIns="0" tIns="0" bIns="0">
            <a:spAutoFit/>
          </a:bodyPr>
          <a:lstStyle/>
          <a:p>
            <a:pPr algn="ctr"/>
            <a:r>
              <a:rPr sz="1050" b="1">
                <a:solidFill>
                  <a:srgbClr val="C9A227"/>
                </a:solidFill>
                <a:latin typeface="Arial"/>
              </a:rPr>
              <a:t>PROFIT</a:t>
            </a:r>
          </a:p>
        </p:txBody>
      </p:sp>
      <p:sp>
        <p:nvSpPr>
          <p:cNvPr id="31" name="TextBox 30"/>
          <p:cNvSpPr txBox="1"/>
          <p:nvPr/>
        </p:nvSpPr>
        <p:spPr>
          <a:xfrm>
            <a:off x="5769864" y="4498848"/>
            <a:ext cx="1408176" cy="548640"/>
          </a:xfrm>
          <a:prstGeom prst="rect">
            <a:avLst/>
          </a:prstGeom>
          <a:noFill/>
        </p:spPr>
        <p:txBody>
          <a:bodyPr wrap="square" anchor="t" lIns="0" rIns="0" tIns="0" bIns="0">
            <a:spAutoFit/>
          </a:bodyPr>
          <a:lstStyle/>
          <a:p>
            <a:pPr algn="ctr">
              <a:lnSpc>
                <a:spcPct val="112000"/>
              </a:lnSpc>
            </a:pPr>
            <a:r>
              <a:rPr sz="760" b="0">
                <a:solidFill>
                  <a:srgbClr val="DCE2EC"/>
                </a:solidFill>
                <a:latin typeface="Arial"/>
              </a:rPr>
              <a:t>Distribute returns at 20% annualized preferred rate</a:t>
            </a:r>
          </a:p>
        </p:txBody>
      </p:sp>
      <p:sp>
        <p:nvSpPr>
          <p:cNvPr id="32" name="Rectangle 31"/>
          <p:cNvSpPr/>
          <p:nvPr/>
        </p:nvSpPr>
        <p:spPr>
          <a:xfrm>
            <a:off x="0" y="5303520"/>
            <a:ext cx="7772400" cy="74980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0" y="5376672"/>
            <a:ext cx="1554480" cy="310896"/>
          </a:xfrm>
          <a:prstGeom prst="rect">
            <a:avLst/>
          </a:prstGeom>
          <a:noFill/>
        </p:spPr>
        <p:txBody>
          <a:bodyPr wrap="square" anchor="t" lIns="0" rIns="0" tIns="0" bIns="0">
            <a:spAutoFit/>
          </a:bodyPr>
          <a:lstStyle/>
          <a:p>
            <a:pPr algn="ctr"/>
            <a:r>
              <a:rPr sz="1700" b="1">
                <a:solidFill>
                  <a:srgbClr val="0D2847"/>
                </a:solidFill>
                <a:latin typeface="Arial"/>
              </a:rPr>
              <a:t>50+</a:t>
            </a:r>
          </a:p>
        </p:txBody>
      </p:sp>
      <p:sp>
        <p:nvSpPr>
          <p:cNvPr id="34" name="TextBox 33"/>
          <p:cNvSpPr txBox="1"/>
          <p:nvPr/>
        </p:nvSpPr>
        <p:spPr>
          <a:xfrm>
            <a:off x="0" y="5687568"/>
            <a:ext cx="1554480" cy="329184"/>
          </a:xfrm>
          <a:prstGeom prst="rect">
            <a:avLst/>
          </a:prstGeom>
          <a:noFill/>
        </p:spPr>
        <p:txBody>
          <a:bodyPr wrap="square" anchor="t" lIns="0" rIns="0" tIns="0" bIns="0">
            <a:spAutoFit/>
          </a:bodyPr>
          <a:lstStyle/>
          <a:p>
            <a:pPr algn="ctr">
              <a:lnSpc>
                <a:spcPct val="100000"/>
              </a:lnSpc>
            </a:pPr>
            <a:r>
              <a:rPr sz="720" b="1">
                <a:solidFill>
                  <a:srgbClr val="0D2847"/>
                </a:solidFill>
                <a:latin typeface="Arial"/>
              </a:rPr>
              <a:t>Years Combined</a:t>
            </a:r>
          </a:p>
          <a:p>
            <a:pPr algn="ctr">
              <a:lnSpc>
                <a:spcPct val="100000"/>
              </a:lnSpc>
            </a:pPr>
            <a:r>
              <a:rPr sz="720" b="1">
                <a:solidFill>
                  <a:srgbClr val="0D2847"/>
                </a:solidFill>
                <a:latin typeface="Arial"/>
              </a:rPr>
              <a:t>Experience</a:t>
            </a:r>
          </a:p>
        </p:txBody>
      </p:sp>
      <p:sp>
        <p:nvSpPr>
          <p:cNvPr id="35" name="TextBox 34"/>
          <p:cNvSpPr txBox="1"/>
          <p:nvPr/>
        </p:nvSpPr>
        <p:spPr>
          <a:xfrm>
            <a:off x="1554480" y="5376672"/>
            <a:ext cx="1554480" cy="310896"/>
          </a:xfrm>
          <a:prstGeom prst="rect">
            <a:avLst/>
          </a:prstGeom>
          <a:noFill/>
        </p:spPr>
        <p:txBody>
          <a:bodyPr wrap="square" anchor="t" lIns="0" rIns="0" tIns="0" bIns="0">
            <a:spAutoFit/>
          </a:bodyPr>
          <a:lstStyle/>
          <a:p>
            <a:pPr algn="ctr"/>
            <a:r>
              <a:rPr sz="1700" b="1">
                <a:solidFill>
                  <a:srgbClr val="0D2847"/>
                </a:solidFill>
                <a:latin typeface="Arial"/>
              </a:rPr>
              <a:t>$500M+</a:t>
            </a:r>
          </a:p>
        </p:txBody>
      </p:sp>
      <p:sp>
        <p:nvSpPr>
          <p:cNvPr id="36" name="TextBox 35"/>
          <p:cNvSpPr txBox="1"/>
          <p:nvPr/>
        </p:nvSpPr>
        <p:spPr>
          <a:xfrm>
            <a:off x="1554480" y="5687568"/>
            <a:ext cx="1554480" cy="329184"/>
          </a:xfrm>
          <a:prstGeom prst="rect">
            <a:avLst/>
          </a:prstGeom>
          <a:noFill/>
        </p:spPr>
        <p:txBody>
          <a:bodyPr wrap="square" anchor="t" lIns="0" rIns="0" tIns="0" bIns="0">
            <a:spAutoFit/>
          </a:bodyPr>
          <a:lstStyle/>
          <a:p>
            <a:pPr algn="ctr">
              <a:lnSpc>
                <a:spcPct val="100000"/>
              </a:lnSpc>
            </a:pPr>
            <a:r>
              <a:rPr sz="720" b="1">
                <a:solidFill>
                  <a:srgbClr val="0D2847"/>
                </a:solidFill>
                <a:latin typeface="Arial"/>
              </a:rPr>
              <a:t>Land Transactions</a:t>
            </a:r>
          </a:p>
        </p:txBody>
      </p:sp>
      <p:sp>
        <p:nvSpPr>
          <p:cNvPr id="37" name="TextBox 36"/>
          <p:cNvSpPr txBox="1"/>
          <p:nvPr/>
        </p:nvSpPr>
        <p:spPr>
          <a:xfrm>
            <a:off x="3108960" y="5376672"/>
            <a:ext cx="1554480" cy="310896"/>
          </a:xfrm>
          <a:prstGeom prst="rect">
            <a:avLst/>
          </a:prstGeom>
          <a:noFill/>
        </p:spPr>
        <p:txBody>
          <a:bodyPr wrap="square" anchor="t" lIns="0" rIns="0" tIns="0" bIns="0">
            <a:spAutoFit/>
          </a:bodyPr>
          <a:lstStyle/>
          <a:p>
            <a:pPr algn="ctr"/>
            <a:r>
              <a:rPr sz="1700" b="1">
                <a:solidFill>
                  <a:srgbClr val="0D2847"/>
                </a:solidFill>
                <a:latin typeface="Arial"/>
              </a:rPr>
              <a:t>20+</a:t>
            </a:r>
          </a:p>
        </p:txBody>
      </p:sp>
      <p:sp>
        <p:nvSpPr>
          <p:cNvPr id="38" name="TextBox 37"/>
          <p:cNvSpPr txBox="1"/>
          <p:nvPr/>
        </p:nvSpPr>
        <p:spPr>
          <a:xfrm>
            <a:off x="3108960" y="5687568"/>
            <a:ext cx="1554480" cy="329184"/>
          </a:xfrm>
          <a:prstGeom prst="rect">
            <a:avLst/>
          </a:prstGeom>
          <a:noFill/>
        </p:spPr>
        <p:txBody>
          <a:bodyPr wrap="square" anchor="t" lIns="0" rIns="0" tIns="0" bIns="0">
            <a:spAutoFit/>
          </a:bodyPr>
          <a:lstStyle/>
          <a:p>
            <a:pPr algn="ctr">
              <a:lnSpc>
                <a:spcPct val="100000"/>
              </a:lnSpc>
            </a:pPr>
            <a:r>
              <a:rPr sz="720" b="1">
                <a:solidFill>
                  <a:srgbClr val="0D2847"/>
                </a:solidFill>
                <a:latin typeface="Arial"/>
              </a:rPr>
              <a:t>Subdivision</a:t>
            </a:r>
          </a:p>
          <a:p>
            <a:pPr algn="ctr">
              <a:lnSpc>
                <a:spcPct val="100000"/>
              </a:lnSpc>
            </a:pPr>
            <a:r>
              <a:rPr sz="720" b="1">
                <a:solidFill>
                  <a:srgbClr val="0D2847"/>
                </a:solidFill>
                <a:latin typeface="Arial"/>
              </a:rPr>
              <a:t>Projects</a:t>
            </a:r>
          </a:p>
        </p:txBody>
      </p:sp>
      <p:sp>
        <p:nvSpPr>
          <p:cNvPr id="39" name="TextBox 38"/>
          <p:cNvSpPr txBox="1"/>
          <p:nvPr/>
        </p:nvSpPr>
        <p:spPr>
          <a:xfrm>
            <a:off x="4663440" y="5376672"/>
            <a:ext cx="1554480" cy="310896"/>
          </a:xfrm>
          <a:prstGeom prst="rect">
            <a:avLst/>
          </a:prstGeom>
          <a:noFill/>
        </p:spPr>
        <p:txBody>
          <a:bodyPr wrap="square" anchor="t" lIns="0" rIns="0" tIns="0" bIns="0">
            <a:spAutoFit/>
          </a:bodyPr>
          <a:lstStyle/>
          <a:p>
            <a:pPr algn="ctr"/>
            <a:r>
              <a:rPr sz="1700" b="1">
                <a:solidFill>
                  <a:srgbClr val="0D2847"/>
                </a:solidFill>
                <a:latin typeface="Arial"/>
              </a:rPr>
              <a:t>2,550+</a:t>
            </a:r>
          </a:p>
        </p:txBody>
      </p:sp>
      <p:sp>
        <p:nvSpPr>
          <p:cNvPr id="40" name="TextBox 39"/>
          <p:cNvSpPr txBox="1"/>
          <p:nvPr/>
        </p:nvSpPr>
        <p:spPr>
          <a:xfrm>
            <a:off x="4663440" y="5687568"/>
            <a:ext cx="1554480" cy="329184"/>
          </a:xfrm>
          <a:prstGeom prst="rect">
            <a:avLst/>
          </a:prstGeom>
          <a:noFill/>
        </p:spPr>
        <p:txBody>
          <a:bodyPr wrap="square" anchor="t" lIns="0" rIns="0" tIns="0" bIns="0">
            <a:spAutoFit/>
          </a:bodyPr>
          <a:lstStyle/>
          <a:p>
            <a:pPr algn="ctr">
              <a:lnSpc>
                <a:spcPct val="100000"/>
              </a:lnSpc>
            </a:pPr>
            <a:r>
              <a:rPr sz="720" b="1">
                <a:solidFill>
                  <a:srgbClr val="0D2847"/>
                </a:solidFill>
                <a:latin typeface="Arial"/>
              </a:rPr>
              <a:t>Lots in Portfolio</a:t>
            </a:r>
          </a:p>
        </p:txBody>
      </p:sp>
      <p:sp>
        <p:nvSpPr>
          <p:cNvPr id="41" name="TextBox 40"/>
          <p:cNvSpPr txBox="1"/>
          <p:nvPr/>
        </p:nvSpPr>
        <p:spPr>
          <a:xfrm>
            <a:off x="6217920" y="5376672"/>
            <a:ext cx="1554480" cy="310896"/>
          </a:xfrm>
          <a:prstGeom prst="rect">
            <a:avLst/>
          </a:prstGeom>
          <a:noFill/>
        </p:spPr>
        <p:txBody>
          <a:bodyPr wrap="square" anchor="t" lIns="0" rIns="0" tIns="0" bIns="0">
            <a:spAutoFit/>
          </a:bodyPr>
          <a:lstStyle/>
          <a:p>
            <a:pPr algn="ctr"/>
            <a:r>
              <a:rPr sz="1700" b="1">
                <a:solidFill>
                  <a:srgbClr val="0D2847"/>
                </a:solidFill>
                <a:latin typeface="Arial"/>
              </a:rPr>
              <a:t>100%</a:t>
            </a:r>
          </a:p>
        </p:txBody>
      </p:sp>
      <p:sp>
        <p:nvSpPr>
          <p:cNvPr id="42" name="TextBox 41"/>
          <p:cNvSpPr txBox="1"/>
          <p:nvPr/>
        </p:nvSpPr>
        <p:spPr>
          <a:xfrm>
            <a:off x="6217920" y="5687568"/>
            <a:ext cx="1554480" cy="329184"/>
          </a:xfrm>
          <a:prstGeom prst="rect">
            <a:avLst/>
          </a:prstGeom>
          <a:noFill/>
        </p:spPr>
        <p:txBody>
          <a:bodyPr wrap="square" anchor="t" lIns="0" rIns="0" tIns="0" bIns="0">
            <a:spAutoFit/>
          </a:bodyPr>
          <a:lstStyle/>
          <a:p>
            <a:pPr algn="ctr">
              <a:lnSpc>
                <a:spcPct val="100000"/>
              </a:lnSpc>
            </a:pPr>
            <a:r>
              <a:rPr sz="720" b="1">
                <a:solidFill>
                  <a:srgbClr val="0D2847"/>
                </a:solidFill>
                <a:latin typeface="Arial"/>
              </a:rPr>
              <a:t>Project Approval</a:t>
            </a:r>
          </a:p>
          <a:p>
            <a:pPr algn="ctr">
              <a:lnSpc>
                <a:spcPct val="100000"/>
              </a:lnSpc>
            </a:pPr>
            <a:r>
              <a:rPr sz="720" b="1">
                <a:solidFill>
                  <a:srgbClr val="0D2847"/>
                </a:solidFill>
                <a:latin typeface="Arial"/>
              </a:rPr>
              <a:t>Rate</a:t>
            </a:r>
          </a:p>
        </p:txBody>
      </p:sp>
      <p:sp>
        <p:nvSpPr>
          <p:cNvPr id="43" name="TextBox 42"/>
          <p:cNvSpPr txBox="1"/>
          <p:nvPr/>
        </p:nvSpPr>
        <p:spPr>
          <a:xfrm>
            <a:off x="502920" y="6272784"/>
            <a:ext cx="6766560" cy="256032"/>
          </a:xfrm>
          <a:prstGeom prst="rect">
            <a:avLst/>
          </a:prstGeom>
          <a:noFill/>
        </p:spPr>
        <p:txBody>
          <a:bodyPr wrap="square" anchor="t" lIns="0" rIns="0" tIns="0" bIns="0">
            <a:spAutoFit/>
          </a:bodyPr>
          <a:lstStyle/>
          <a:p>
            <a:pPr algn="ctr"/>
            <a:r>
              <a:rPr sz="1250" b="1">
                <a:solidFill>
                  <a:srgbClr val="C9A227"/>
                </a:solidFill>
                <a:latin typeface="Arial"/>
              </a:rPr>
              <a:t>WHY INVEST WITH TRENDAMERICA?</a:t>
            </a:r>
          </a:p>
        </p:txBody>
      </p:sp>
      <p:sp>
        <p:nvSpPr>
          <p:cNvPr id="44" name="Rectangle 43"/>
          <p:cNvSpPr/>
          <p:nvPr/>
        </p:nvSpPr>
        <p:spPr>
          <a:xfrm>
            <a:off x="502920" y="6528816"/>
            <a:ext cx="6766560" cy="1143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4360" y="6675120"/>
            <a:ext cx="3108960" cy="201168"/>
          </a:xfrm>
          <a:prstGeom prst="rect">
            <a:avLst/>
          </a:prstGeom>
          <a:noFill/>
        </p:spPr>
        <p:txBody>
          <a:bodyPr wrap="square" anchor="t" lIns="0" rIns="0" tIns="0" bIns="0">
            <a:spAutoFit/>
          </a:bodyPr>
          <a:lstStyle/>
          <a:p>
            <a:pPr algn="l"/>
            <a:r>
              <a:rPr sz="800" b="0">
                <a:solidFill>
                  <a:srgbClr val="C9A227"/>
                </a:solidFill>
                <a:latin typeface="Arial"/>
              </a:rPr>
              <a:t>● </a:t>
            </a:r>
            <a:r>
              <a:rPr sz="1000" b="1">
                <a:solidFill>
                  <a:srgbClr val="FFFFFF"/>
                </a:solidFill>
                <a:latin typeface="Arial"/>
              </a:rPr>
              <a:t>No Shovels in the Ground</a:t>
            </a:r>
          </a:p>
        </p:txBody>
      </p:sp>
      <p:sp>
        <p:nvSpPr>
          <p:cNvPr id="46" name="TextBox 45"/>
          <p:cNvSpPr txBox="1"/>
          <p:nvPr/>
        </p:nvSpPr>
        <p:spPr>
          <a:xfrm>
            <a:off x="594360" y="6894576"/>
            <a:ext cx="3108960" cy="676656"/>
          </a:xfrm>
          <a:prstGeom prst="rect">
            <a:avLst/>
          </a:prstGeom>
          <a:noFill/>
        </p:spPr>
        <p:txBody>
          <a:bodyPr wrap="square" anchor="t" lIns="0" rIns="0" tIns="0" bIns="0">
            <a:spAutoFit/>
          </a:bodyPr>
          <a:lstStyle/>
          <a:p>
            <a:pPr algn="l">
              <a:lnSpc>
                <a:spcPct val="112000"/>
              </a:lnSpc>
            </a:pPr>
            <a:r>
              <a:rPr sz="780" b="0">
                <a:solidFill>
                  <a:srgbClr val="DCE2EC"/>
                </a:solidFill>
                <a:latin typeface="Arial"/>
              </a:rPr>
              <a:t>We create "Paper Lots" — approved subdivision maps — without construction. The homebuilder takes the development risk, not our stakeholders.</a:t>
            </a:r>
          </a:p>
        </p:txBody>
      </p:sp>
      <p:sp>
        <p:nvSpPr>
          <p:cNvPr id="47" name="TextBox 46"/>
          <p:cNvSpPr txBox="1"/>
          <p:nvPr/>
        </p:nvSpPr>
        <p:spPr>
          <a:xfrm>
            <a:off x="4069080" y="6675120"/>
            <a:ext cx="3108960" cy="201168"/>
          </a:xfrm>
          <a:prstGeom prst="rect">
            <a:avLst/>
          </a:prstGeom>
          <a:noFill/>
        </p:spPr>
        <p:txBody>
          <a:bodyPr wrap="square" anchor="t" lIns="0" rIns="0" tIns="0" bIns="0">
            <a:spAutoFit/>
          </a:bodyPr>
          <a:lstStyle/>
          <a:p>
            <a:pPr algn="l"/>
            <a:r>
              <a:rPr sz="800" b="0">
                <a:solidFill>
                  <a:srgbClr val="C9A227"/>
                </a:solidFill>
                <a:latin typeface="Arial"/>
              </a:rPr>
              <a:t>● </a:t>
            </a:r>
            <a:r>
              <a:rPr sz="1000" b="1">
                <a:solidFill>
                  <a:srgbClr val="FFFFFF"/>
                </a:solidFill>
                <a:latin typeface="Arial"/>
              </a:rPr>
              <a:t>Stakeholder Protections Built In</a:t>
            </a:r>
          </a:p>
        </p:txBody>
      </p:sp>
      <p:sp>
        <p:nvSpPr>
          <p:cNvPr id="48" name="TextBox 47"/>
          <p:cNvSpPr txBox="1"/>
          <p:nvPr/>
        </p:nvSpPr>
        <p:spPr>
          <a:xfrm>
            <a:off x="4069080" y="6894576"/>
            <a:ext cx="3108960" cy="676656"/>
          </a:xfrm>
          <a:prstGeom prst="rect">
            <a:avLst/>
          </a:prstGeom>
          <a:noFill/>
        </p:spPr>
        <p:txBody>
          <a:bodyPr wrap="square" anchor="t" lIns="0" rIns="0" tIns="0" bIns="0">
            <a:spAutoFit/>
          </a:bodyPr>
          <a:lstStyle/>
          <a:p>
            <a:pPr algn="l">
              <a:lnSpc>
                <a:spcPct val="112000"/>
              </a:lnSpc>
            </a:pPr>
            <a:r>
              <a:rPr sz="780" b="0">
                <a:solidFill>
                  <a:srgbClr val="DCE2EC"/>
                </a:solidFill>
                <a:latin typeface="Arial"/>
              </a:rPr>
              <a:t>40% stakeholder approval required on all project expenses over $10,000. Full LLC protection and audit rights on every project's bank account.</a:t>
            </a:r>
          </a:p>
        </p:txBody>
      </p:sp>
      <p:sp>
        <p:nvSpPr>
          <p:cNvPr id="49" name="TextBox 48"/>
          <p:cNvSpPr txBox="1"/>
          <p:nvPr/>
        </p:nvSpPr>
        <p:spPr>
          <a:xfrm>
            <a:off x="594360" y="7589520"/>
            <a:ext cx="3108960" cy="201168"/>
          </a:xfrm>
          <a:prstGeom prst="rect">
            <a:avLst/>
          </a:prstGeom>
          <a:noFill/>
        </p:spPr>
        <p:txBody>
          <a:bodyPr wrap="square" anchor="t" lIns="0" rIns="0" tIns="0" bIns="0">
            <a:spAutoFit/>
          </a:bodyPr>
          <a:lstStyle/>
          <a:p>
            <a:pPr algn="l"/>
            <a:r>
              <a:rPr sz="800" b="0">
                <a:solidFill>
                  <a:srgbClr val="C9A227"/>
                </a:solidFill>
                <a:latin typeface="Arial"/>
              </a:rPr>
              <a:t>● </a:t>
            </a:r>
            <a:r>
              <a:rPr sz="1000" b="1">
                <a:solidFill>
                  <a:srgbClr val="FFFFFF"/>
                </a:solidFill>
                <a:latin typeface="Arial"/>
              </a:rPr>
              <a:t>We Know The Homebuilder's Numbers</a:t>
            </a:r>
          </a:p>
        </p:txBody>
      </p:sp>
      <p:sp>
        <p:nvSpPr>
          <p:cNvPr id="50" name="TextBox 49"/>
          <p:cNvSpPr txBox="1"/>
          <p:nvPr/>
        </p:nvSpPr>
        <p:spPr>
          <a:xfrm>
            <a:off x="594360" y="7808976"/>
            <a:ext cx="3108960" cy="676656"/>
          </a:xfrm>
          <a:prstGeom prst="rect">
            <a:avLst/>
          </a:prstGeom>
          <a:noFill/>
        </p:spPr>
        <p:txBody>
          <a:bodyPr wrap="square" anchor="t" lIns="0" rIns="0" tIns="0" bIns="0">
            <a:spAutoFit/>
          </a:bodyPr>
          <a:lstStyle/>
          <a:p>
            <a:pPr algn="l">
              <a:lnSpc>
                <a:spcPct val="112000"/>
              </a:lnSpc>
            </a:pPr>
            <a:r>
              <a:rPr sz="780" b="0">
                <a:solidFill>
                  <a:srgbClr val="DCE2EC"/>
                </a:solidFill>
                <a:latin typeface="Arial"/>
              </a:rPr>
              <a:t>Our project financial analysis proforma mirrors theirs exactly, giving us a decisive advantage in negotiating land acquisitions and sales to California's premier builders.</a:t>
            </a:r>
          </a:p>
        </p:txBody>
      </p:sp>
      <p:sp>
        <p:nvSpPr>
          <p:cNvPr id="51" name="TextBox 50"/>
          <p:cNvSpPr txBox="1"/>
          <p:nvPr/>
        </p:nvSpPr>
        <p:spPr>
          <a:xfrm>
            <a:off x="4069080" y="7589520"/>
            <a:ext cx="3108960" cy="201168"/>
          </a:xfrm>
          <a:prstGeom prst="rect">
            <a:avLst/>
          </a:prstGeom>
          <a:noFill/>
        </p:spPr>
        <p:txBody>
          <a:bodyPr wrap="square" anchor="t" lIns="0" rIns="0" tIns="0" bIns="0">
            <a:spAutoFit/>
          </a:bodyPr>
          <a:lstStyle/>
          <a:p>
            <a:pPr algn="l"/>
            <a:r>
              <a:rPr sz="800" b="0">
                <a:solidFill>
                  <a:srgbClr val="C9A227"/>
                </a:solidFill>
                <a:latin typeface="Arial"/>
              </a:rPr>
              <a:t>● </a:t>
            </a:r>
            <a:r>
              <a:rPr sz="1000" b="1">
                <a:solidFill>
                  <a:srgbClr val="FFFFFF"/>
                </a:solidFill>
                <a:latin typeface="Arial"/>
              </a:rPr>
              <a:t>California Is Our Advantage</a:t>
            </a:r>
          </a:p>
        </p:txBody>
      </p:sp>
      <p:sp>
        <p:nvSpPr>
          <p:cNvPr id="52" name="TextBox 51"/>
          <p:cNvSpPr txBox="1"/>
          <p:nvPr/>
        </p:nvSpPr>
        <p:spPr>
          <a:xfrm>
            <a:off x="4069080" y="7808976"/>
            <a:ext cx="3108960" cy="676656"/>
          </a:xfrm>
          <a:prstGeom prst="rect">
            <a:avLst/>
          </a:prstGeom>
          <a:noFill/>
        </p:spPr>
        <p:txBody>
          <a:bodyPr wrap="square" anchor="t" lIns="0" rIns="0" tIns="0" bIns="0">
            <a:spAutoFit/>
          </a:bodyPr>
          <a:lstStyle/>
          <a:p>
            <a:pPr algn="l">
              <a:lnSpc>
                <a:spcPct val="112000"/>
              </a:lnSpc>
            </a:pPr>
            <a:r>
              <a:rPr sz="780" b="0">
                <a:solidFill>
                  <a:srgbClr val="DCE2EC"/>
                </a:solidFill>
                <a:latin typeface="Arial"/>
              </a:rPr>
              <a:t>The most regulated state is the highest-barrier market — which means the fewest competitors and the highest returns for those who master it. We've mastered it the last 25 years.</a:t>
            </a:r>
          </a:p>
        </p:txBody>
      </p:sp>
      <p:sp>
        <p:nvSpPr>
          <p:cNvPr id="53" name="Rounded Rectangle 52"/>
          <p:cNvSpPr/>
          <p:nvPr/>
        </p:nvSpPr>
        <p:spPr>
          <a:xfrm>
            <a:off x="502920" y="8577072"/>
            <a:ext cx="6766560" cy="658368"/>
          </a:xfrm>
          <a:prstGeom prst="roundRect">
            <a:avLst>
              <a:gd name="adj" fmla="val 12000"/>
            </a:avLst>
          </a:prstGeom>
          <a:solidFill>
            <a:srgbClr val="1B3A66"/>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5800" y="8686800"/>
            <a:ext cx="6400800" cy="237744"/>
          </a:xfrm>
          <a:prstGeom prst="rect">
            <a:avLst/>
          </a:prstGeom>
          <a:noFill/>
        </p:spPr>
        <p:txBody>
          <a:bodyPr wrap="square" anchor="t" lIns="0" rIns="0" tIns="0" bIns="0">
            <a:spAutoFit/>
          </a:bodyPr>
          <a:lstStyle/>
          <a:p>
            <a:pPr algn="ctr"/>
            <a:r>
              <a:rPr sz="1100" b="1">
                <a:solidFill>
                  <a:srgbClr val="FFFFFF"/>
                </a:solidFill>
                <a:latin typeface="Arial"/>
              </a:rPr>
              <a:t>Minimum Investment: $20,000 per project  •  Paper Subdivision Lots  •  No Construction Risk</a:t>
            </a:r>
          </a:p>
        </p:txBody>
      </p:sp>
      <p:sp>
        <p:nvSpPr>
          <p:cNvPr id="55" name="TextBox 54"/>
          <p:cNvSpPr txBox="1"/>
          <p:nvPr/>
        </p:nvSpPr>
        <p:spPr>
          <a:xfrm>
            <a:off x="685800" y="8942832"/>
            <a:ext cx="6400800" cy="201168"/>
          </a:xfrm>
          <a:prstGeom prst="rect">
            <a:avLst/>
          </a:prstGeom>
          <a:noFill/>
        </p:spPr>
        <p:txBody>
          <a:bodyPr wrap="square" anchor="t" lIns="0" rIns="0" tIns="0" bIns="0">
            <a:spAutoFit/>
          </a:bodyPr>
          <a:lstStyle/>
          <a:p>
            <a:pPr algn="ctr"/>
            <a:r>
              <a:rPr sz="800" b="0">
                <a:solidFill>
                  <a:srgbClr val="C9A227"/>
                </a:solidFill>
                <a:latin typeface="Arial"/>
              </a:rPr>
              <a:t>Each project uses a Single Entity LLC — your funds are isolated, protected, and auditable</a:t>
            </a:r>
          </a:p>
        </p:txBody>
      </p:sp>
      <p:sp>
        <p:nvSpPr>
          <p:cNvPr id="56" name="TextBox 55"/>
          <p:cNvSpPr txBox="1"/>
          <p:nvPr/>
        </p:nvSpPr>
        <p:spPr>
          <a:xfrm>
            <a:off x="4114800" y="9381744"/>
            <a:ext cx="3154680" cy="219456"/>
          </a:xfrm>
          <a:prstGeom prst="rect">
            <a:avLst/>
          </a:prstGeom>
          <a:noFill/>
        </p:spPr>
        <p:txBody>
          <a:bodyPr wrap="square" anchor="t" lIns="0" rIns="0" tIns="0" bIns="0">
            <a:spAutoFit/>
          </a:bodyPr>
          <a:lstStyle/>
          <a:p>
            <a:pPr algn="r"/>
            <a:r>
              <a:rPr sz="1000" b="1">
                <a:solidFill>
                  <a:srgbClr val="FFFFFF"/>
                </a:solidFill>
                <a:latin typeface="Arial"/>
              </a:rPr>
              <a:t>SEE OVER  ■</a:t>
            </a:r>
          </a:p>
        </p:txBody>
      </p:sp>
      <p:sp>
        <p:nvSpPr>
          <p:cNvPr id="57" name="Rectangle 56"/>
          <p:cNvSpPr/>
          <p:nvPr/>
        </p:nvSpPr>
        <p:spPr>
          <a:xfrm>
            <a:off x="0" y="9710928"/>
            <a:ext cx="7772400" cy="3474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0" y="9784080"/>
            <a:ext cx="7772400" cy="219456"/>
          </a:xfrm>
          <a:prstGeom prst="rect">
            <a:avLst/>
          </a:prstGeom>
          <a:noFill/>
        </p:spPr>
        <p:txBody>
          <a:bodyPr wrap="square" anchor="t" lIns="0" rIns="0" tIns="0" bIns="0">
            <a:spAutoFit/>
          </a:bodyPr>
          <a:lstStyle/>
          <a:p>
            <a:pPr algn="ctr"/>
            <a:r>
              <a:rPr sz="1100" b="1">
                <a:solidFill>
                  <a:srgbClr val="0D2847"/>
                </a:solidFill>
                <a:latin typeface="Arial"/>
              </a:rPr>
              <a:t>www.TrendAmericaLand.com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772400" cy="10058400"/>
          </a:xfrm>
          <a:prstGeom prst="rect">
            <a:avLst/>
          </a:prstGeom>
          <a:solidFill>
            <a:srgbClr val="0D28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6858000" cy="411480"/>
          </a:xfrm>
          <a:prstGeom prst="rect">
            <a:avLst/>
          </a:prstGeom>
          <a:noFill/>
        </p:spPr>
        <p:txBody>
          <a:bodyPr wrap="square" anchor="t" lIns="0" rIns="0" tIns="0" bIns="0">
            <a:spAutoFit/>
          </a:bodyPr>
          <a:lstStyle/>
          <a:p>
            <a:pPr algn="ctr"/>
            <a:r>
              <a:rPr sz="2400" b="1">
                <a:solidFill>
                  <a:srgbClr val="FFFFFF"/>
                </a:solidFill>
                <a:latin typeface="Arial"/>
              </a:rPr>
              <a:t>TREND</a:t>
            </a:r>
            <a:r>
              <a:rPr sz="2400" b="1">
                <a:solidFill>
                  <a:srgbClr val="C9A227"/>
                </a:solidFill>
                <a:latin typeface="Arial"/>
              </a:rPr>
              <a:t>AMERICA</a:t>
            </a:r>
          </a:p>
        </p:txBody>
      </p:sp>
      <p:sp>
        <p:nvSpPr>
          <p:cNvPr id="4" name="TextBox 3"/>
          <p:cNvSpPr txBox="1"/>
          <p:nvPr/>
        </p:nvSpPr>
        <p:spPr>
          <a:xfrm>
            <a:off x="457200" y="640080"/>
            <a:ext cx="6858000" cy="219456"/>
          </a:xfrm>
          <a:prstGeom prst="rect">
            <a:avLst/>
          </a:prstGeom>
          <a:noFill/>
        </p:spPr>
        <p:txBody>
          <a:bodyPr wrap="square" anchor="t" lIns="0" rIns="0" tIns="0" bIns="0">
            <a:spAutoFit/>
          </a:bodyPr>
          <a:lstStyle/>
          <a:p>
            <a:pPr algn="ctr"/>
            <a:r>
              <a:rPr sz="950" b="1">
                <a:solidFill>
                  <a:srgbClr val="FFFFFF"/>
                </a:solidFill>
                <a:latin typeface="Arial"/>
              </a:rPr>
              <a:t>M E E T   O U R   L E A D E R S H I P   T E A M</a:t>
            </a:r>
          </a:p>
        </p:txBody>
      </p:sp>
      <p:sp>
        <p:nvSpPr>
          <p:cNvPr id="5" name="Rectangle 4"/>
          <p:cNvSpPr/>
          <p:nvPr/>
        </p:nvSpPr>
        <p:spPr>
          <a:xfrm>
            <a:off x="457200" y="896112"/>
            <a:ext cx="6858000" cy="1143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005840"/>
            <a:ext cx="2212848" cy="4224528"/>
          </a:xfrm>
          <a:prstGeom prst="roundRect">
            <a:avLst>
              <a:gd name="adj" fmla="val 3500"/>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andy.jpg"/>
          <p:cNvPicPr>
            <a:picLocks noChangeAspect="1"/>
          </p:cNvPicPr>
          <p:nvPr/>
        </p:nvPicPr>
        <p:blipFill>
          <a:blip r:embed="rId2"/>
          <a:stretch>
            <a:fillRect/>
          </a:stretch>
        </p:blipFill>
        <p:spPr>
          <a:xfrm>
            <a:off x="877824" y="1133856"/>
            <a:ext cx="1371600" cy="1691640"/>
          </a:xfrm>
          <a:prstGeom prst="rect">
            <a:avLst/>
          </a:prstGeom>
        </p:spPr>
      </p:pic>
      <p:sp>
        <p:nvSpPr>
          <p:cNvPr id="8" name="TextBox 7"/>
          <p:cNvSpPr txBox="1"/>
          <p:nvPr/>
        </p:nvSpPr>
        <p:spPr>
          <a:xfrm>
            <a:off x="603504" y="2935224"/>
            <a:ext cx="1920240" cy="201168"/>
          </a:xfrm>
          <a:prstGeom prst="rect">
            <a:avLst/>
          </a:prstGeom>
          <a:noFill/>
        </p:spPr>
        <p:txBody>
          <a:bodyPr wrap="square" anchor="t" lIns="0" rIns="0" tIns="0" bIns="0">
            <a:spAutoFit/>
          </a:bodyPr>
          <a:lstStyle/>
          <a:p>
            <a:pPr algn="l"/>
            <a:r>
              <a:rPr sz="1150" b="1">
                <a:solidFill>
                  <a:srgbClr val="C9A227"/>
                </a:solidFill>
                <a:latin typeface="Arial"/>
              </a:rPr>
              <a:t>RANDY REINHART</a:t>
            </a:r>
          </a:p>
        </p:txBody>
      </p:sp>
      <p:sp>
        <p:nvSpPr>
          <p:cNvPr id="9" name="TextBox 8"/>
          <p:cNvSpPr txBox="1"/>
          <p:nvPr/>
        </p:nvSpPr>
        <p:spPr>
          <a:xfrm>
            <a:off x="603504" y="3136392"/>
            <a:ext cx="1920240" cy="182880"/>
          </a:xfrm>
          <a:prstGeom prst="rect">
            <a:avLst/>
          </a:prstGeom>
          <a:noFill/>
        </p:spPr>
        <p:txBody>
          <a:bodyPr wrap="square" anchor="t" lIns="0" rIns="0" tIns="0" bIns="0">
            <a:spAutoFit/>
          </a:bodyPr>
          <a:lstStyle/>
          <a:p>
            <a:pPr algn="l"/>
            <a:r>
              <a:rPr sz="900" b="0">
                <a:solidFill>
                  <a:srgbClr val="FFFFFF"/>
                </a:solidFill>
                <a:latin typeface="Arial"/>
              </a:rPr>
              <a:t>President</a:t>
            </a:r>
          </a:p>
        </p:txBody>
      </p:sp>
      <p:sp>
        <p:nvSpPr>
          <p:cNvPr id="10" name="Rectangle 9"/>
          <p:cNvSpPr/>
          <p:nvPr/>
        </p:nvSpPr>
        <p:spPr>
          <a:xfrm>
            <a:off x="603504" y="3355848"/>
            <a:ext cx="1920240" cy="1143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3447288"/>
            <a:ext cx="1920240" cy="1143000"/>
          </a:xfrm>
          <a:prstGeom prst="rect">
            <a:avLst/>
          </a:prstGeom>
          <a:noFill/>
        </p:spPr>
        <p:txBody>
          <a:bodyPr wrap="square" anchor="t" lIns="0" rIns="0" tIns="0" bIns="0">
            <a:spAutoFit/>
          </a:bodyPr>
          <a:lstStyle/>
          <a:p>
            <a:pPr algn="l">
              <a:lnSpc>
                <a:spcPct val="112000"/>
              </a:lnSpc>
            </a:pPr>
            <a:r>
              <a:rPr sz="720" b="0">
                <a:solidFill>
                  <a:srgbClr val="DCE2EC"/>
                </a:solidFill>
                <a:latin typeface="Arial"/>
              </a:rPr>
              <a:t>Former EVP of Land Acquisitions &amp; Entitlements at KB Home and SVP at K. Hovnanian Homes. Recruited by former U.S. Secretary of Housing Henry Cisneros to lead an infill land development joint venture. Over $500M in land transactions and 2,550+ lots, 20 projects across California and Nevada.</a:t>
            </a:r>
          </a:p>
        </p:txBody>
      </p:sp>
      <p:sp>
        <p:nvSpPr>
          <p:cNvPr id="12" name="TextBox 11"/>
          <p:cNvSpPr txBox="1"/>
          <p:nvPr/>
        </p:nvSpPr>
        <p:spPr>
          <a:xfrm>
            <a:off x="603504" y="4645152"/>
            <a:ext cx="1920240" cy="868680"/>
          </a:xfrm>
          <a:prstGeom prst="rect">
            <a:avLst/>
          </a:prstGeom>
          <a:noFill/>
        </p:spPr>
        <p:txBody>
          <a:bodyPr wrap="square" anchor="t" lIns="0" rIns="0" tIns="0" bIns="0">
            <a:spAutoFit/>
          </a:bodyPr>
          <a:lstStyle/>
          <a:p>
            <a:pPr algn="l">
              <a:lnSpc>
                <a:spcPct val="100000"/>
              </a:lnSpc>
              <a:spcAft>
                <a:spcPts val="250"/>
              </a:spcAft>
            </a:pPr>
            <a:r>
              <a:rPr sz="650" b="0">
                <a:solidFill>
                  <a:srgbClr val="C9A227"/>
                </a:solidFill>
                <a:latin typeface="Arial"/>
              </a:rPr>
              <a:t>●  </a:t>
            </a:r>
            <a:r>
              <a:rPr sz="720" b="0">
                <a:solidFill>
                  <a:srgbClr val="DCE2EC"/>
                </a:solidFill>
                <a:latin typeface="Arial"/>
              </a:rPr>
              <a:t>JD, University of Arkansas School of Law</a:t>
            </a:r>
          </a:p>
          <a:p>
            <a:pPr algn="l">
              <a:lnSpc>
                <a:spcPct val="100000"/>
              </a:lnSpc>
              <a:spcAft>
                <a:spcPts val="250"/>
              </a:spcAft>
            </a:pPr>
            <a:r>
              <a:rPr sz="650" b="0">
                <a:solidFill>
                  <a:srgbClr val="C9A227"/>
                </a:solidFill>
                <a:latin typeface="Arial"/>
              </a:rPr>
              <a:t>●  </a:t>
            </a:r>
            <a:r>
              <a:rPr sz="720" b="0">
                <a:solidFill>
                  <a:srgbClr val="DCE2EC"/>
                </a:solidFill>
                <a:latin typeface="Arial"/>
              </a:rPr>
              <a:t>BA Business, UC Riverside</a:t>
            </a:r>
          </a:p>
          <a:p>
            <a:pPr algn="l">
              <a:lnSpc>
                <a:spcPct val="100000"/>
              </a:lnSpc>
              <a:spcAft>
                <a:spcPts val="250"/>
              </a:spcAft>
            </a:pPr>
            <a:r>
              <a:rPr sz="650" b="0">
                <a:solidFill>
                  <a:srgbClr val="C9A227"/>
                </a:solidFill>
                <a:latin typeface="Arial"/>
              </a:rPr>
              <a:t>●  </a:t>
            </a:r>
            <a:r>
              <a:rPr sz="720" b="0">
                <a:solidFill>
                  <a:srgbClr val="DCE2EC"/>
                </a:solidFill>
                <a:latin typeface="Arial"/>
              </a:rPr>
              <a:t>Licensed RE Broker — CA &amp; AZ</a:t>
            </a:r>
          </a:p>
          <a:p>
            <a:pPr algn="l">
              <a:lnSpc>
                <a:spcPct val="100000"/>
              </a:lnSpc>
              <a:spcAft>
                <a:spcPts val="250"/>
              </a:spcAft>
            </a:pPr>
            <a:r>
              <a:rPr sz="650" b="0">
                <a:solidFill>
                  <a:srgbClr val="C9A227"/>
                </a:solidFill>
                <a:latin typeface="Arial"/>
              </a:rPr>
              <a:t>●  </a:t>
            </a:r>
            <a:r>
              <a:rPr sz="720" b="0">
                <a:solidFill>
                  <a:srgbClr val="DCE2EC"/>
                </a:solidFill>
                <a:latin typeface="Arial"/>
              </a:rPr>
              <a:t>Former CA General Contractor</a:t>
            </a:r>
          </a:p>
        </p:txBody>
      </p:sp>
      <p:sp>
        <p:nvSpPr>
          <p:cNvPr id="13" name="Rounded Rectangle 12"/>
          <p:cNvSpPr/>
          <p:nvPr/>
        </p:nvSpPr>
        <p:spPr>
          <a:xfrm>
            <a:off x="2779776" y="1005840"/>
            <a:ext cx="2212848" cy="4224528"/>
          </a:xfrm>
          <a:prstGeom prst="roundRect">
            <a:avLst>
              <a:gd name="adj" fmla="val 3500"/>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mark.jpg"/>
          <p:cNvPicPr>
            <a:picLocks noChangeAspect="1"/>
          </p:cNvPicPr>
          <p:nvPr/>
        </p:nvPicPr>
        <p:blipFill>
          <a:blip r:embed="rId3"/>
          <a:stretch>
            <a:fillRect/>
          </a:stretch>
        </p:blipFill>
        <p:spPr>
          <a:xfrm>
            <a:off x="3200400" y="1133856"/>
            <a:ext cx="1371600" cy="1691640"/>
          </a:xfrm>
          <a:prstGeom prst="rect">
            <a:avLst/>
          </a:prstGeom>
        </p:spPr>
      </p:pic>
      <p:sp>
        <p:nvSpPr>
          <p:cNvPr id="15" name="TextBox 14"/>
          <p:cNvSpPr txBox="1"/>
          <p:nvPr/>
        </p:nvSpPr>
        <p:spPr>
          <a:xfrm>
            <a:off x="2926080" y="2935224"/>
            <a:ext cx="1920240" cy="201168"/>
          </a:xfrm>
          <a:prstGeom prst="rect">
            <a:avLst/>
          </a:prstGeom>
          <a:noFill/>
        </p:spPr>
        <p:txBody>
          <a:bodyPr wrap="square" anchor="t" lIns="0" rIns="0" tIns="0" bIns="0">
            <a:spAutoFit/>
          </a:bodyPr>
          <a:lstStyle/>
          <a:p>
            <a:pPr algn="l"/>
            <a:r>
              <a:rPr sz="1150" b="1">
                <a:solidFill>
                  <a:srgbClr val="C9A227"/>
                </a:solidFill>
                <a:latin typeface="Arial"/>
              </a:rPr>
              <a:t>MARK GOODMAN</a:t>
            </a:r>
          </a:p>
        </p:txBody>
      </p:sp>
      <p:sp>
        <p:nvSpPr>
          <p:cNvPr id="16" name="TextBox 15"/>
          <p:cNvSpPr txBox="1"/>
          <p:nvPr/>
        </p:nvSpPr>
        <p:spPr>
          <a:xfrm>
            <a:off x="2926080" y="3136392"/>
            <a:ext cx="1920240" cy="182880"/>
          </a:xfrm>
          <a:prstGeom prst="rect">
            <a:avLst/>
          </a:prstGeom>
          <a:noFill/>
        </p:spPr>
        <p:txBody>
          <a:bodyPr wrap="square" anchor="t" lIns="0" rIns="0" tIns="0" bIns="0">
            <a:spAutoFit/>
          </a:bodyPr>
          <a:lstStyle/>
          <a:p>
            <a:pPr algn="l"/>
            <a:r>
              <a:rPr sz="900" b="0">
                <a:solidFill>
                  <a:srgbClr val="FFFFFF"/>
                </a:solidFill>
                <a:latin typeface="Arial"/>
              </a:rPr>
              <a:t>VP, Entitlements</a:t>
            </a:r>
          </a:p>
        </p:txBody>
      </p:sp>
      <p:sp>
        <p:nvSpPr>
          <p:cNvPr id="17" name="Rectangle 16"/>
          <p:cNvSpPr/>
          <p:nvPr/>
        </p:nvSpPr>
        <p:spPr>
          <a:xfrm>
            <a:off x="2926080" y="3355848"/>
            <a:ext cx="1920240" cy="1143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6080" y="3447288"/>
            <a:ext cx="1920240" cy="1143000"/>
          </a:xfrm>
          <a:prstGeom prst="rect">
            <a:avLst/>
          </a:prstGeom>
          <a:noFill/>
        </p:spPr>
        <p:txBody>
          <a:bodyPr wrap="square" anchor="t" lIns="0" rIns="0" tIns="0" bIns="0">
            <a:spAutoFit/>
          </a:bodyPr>
          <a:lstStyle/>
          <a:p>
            <a:pPr algn="l">
              <a:lnSpc>
                <a:spcPct val="112000"/>
              </a:lnSpc>
            </a:pPr>
            <a:r>
              <a:rPr sz="720" b="0">
                <a:solidFill>
                  <a:srgbClr val="DCE2EC"/>
                </a:solidFill>
                <a:latin typeface="Arial"/>
              </a:rPr>
              <a:t>Senior Project Planner &amp; Environmental Analyst, Orange County Planning Dept. Director of Entitlements, KB Home. Director of Development, Shapell Homes. Elected to Laguna Niguel City Council; served as Mayor. Board member, OC Fire Authority &amp; Transportation Corridor Agencies.</a:t>
            </a:r>
          </a:p>
        </p:txBody>
      </p:sp>
      <p:sp>
        <p:nvSpPr>
          <p:cNvPr id="19" name="TextBox 18"/>
          <p:cNvSpPr txBox="1"/>
          <p:nvPr/>
        </p:nvSpPr>
        <p:spPr>
          <a:xfrm>
            <a:off x="2926080" y="4645152"/>
            <a:ext cx="1920240" cy="868680"/>
          </a:xfrm>
          <a:prstGeom prst="rect">
            <a:avLst/>
          </a:prstGeom>
          <a:noFill/>
        </p:spPr>
        <p:txBody>
          <a:bodyPr wrap="square" anchor="t" lIns="0" rIns="0" tIns="0" bIns="0">
            <a:spAutoFit/>
          </a:bodyPr>
          <a:lstStyle/>
          <a:p>
            <a:pPr algn="l">
              <a:lnSpc>
                <a:spcPct val="100000"/>
              </a:lnSpc>
              <a:spcAft>
                <a:spcPts val="250"/>
              </a:spcAft>
            </a:pPr>
            <a:r>
              <a:rPr sz="650" b="0">
                <a:solidFill>
                  <a:srgbClr val="C9A227"/>
                </a:solidFill>
                <a:latin typeface="Arial"/>
              </a:rPr>
              <a:t>●  </a:t>
            </a:r>
            <a:r>
              <a:rPr sz="720" b="0">
                <a:solidFill>
                  <a:srgbClr val="DCE2EC"/>
                </a:solidFill>
                <a:latin typeface="Arial"/>
              </a:rPr>
              <a:t>MPA Urban Planning, CSU Fullerton</a:t>
            </a:r>
          </a:p>
          <a:p>
            <a:pPr algn="l">
              <a:lnSpc>
                <a:spcPct val="100000"/>
              </a:lnSpc>
              <a:spcAft>
                <a:spcPts val="250"/>
              </a:spcAft>
            </a:pPr>
            <a:r>
              <a:rPr sz="650" b="0">
                <a:solidFill>
                  <a:srgbClr val="C9A227"/>
                </a:solidFill>
                <a:latin typeface="Arial"/>
              </a:rPr>
              <a:t>●  </a:t>
            </a:r>
            <a:r>
              <a:rPr sz="720" b="0">
                <a:solidFill>
                  <a:srgbClr val="DCE2EC"/>
                </a:solidFill>
                <a:latin typeface="Arial"/>
              </a:rPr>
              <a:t>BA Political Science, Cal Poly Pomona</a:t>
            </a:r>
          </a:p>
          <a:p>
            <a:pPr algn="l">
              <a:lnSpc>
                <a:spcPct val="100000"/>
              </a:lnSpc>
              <a:spcAft>
                <a:spcPts val="250"/>
              </a:spcAft>
            </a:pPr>
            <a:r>
              <a:rPr sz="650" b="0">
                <a:solidFill>
                  <a:srgbClr val="C9A227"/>
                </a:solidFill>
                <a:latin typeface="Arial"/>
              </a:rPr>
              <a:t>●  </a:t>
            </a:r>
            <a:r>
              <a:rPr sz="720" b="0">
                <a:solidFill>
                  <a:srgbClr val="DCE2EC"/>
                </a:solidFill>
                <a:latin typeface="Arial"/>
              </a:rPr>
              <a:t>Acting Planning Director, City of Norwalk</a:t>
            </a:r>
          </a:p>
          <a:p>
            <a:pPr algn="l">
              <a:lnSpc>
                <a:spcPct val="100000"/>
              </a:lnSpc>
              <a:spcAft>
                <a:spcPts val="250"/>
              </a:spcAft>
            </a:pPr>
            <a:r>
              <a:rPr sz="650" b="0">
                <a:solidFill>
                  <a:srgbClr val="C9A227"/>
                </a:solidFill>
                <a:latin typeface="Arial"/>
              </a:rPr>
              <a:t>●  </a:t>
            </a:r>
            <a:r>
              <a:rPr sz="720" b="0">
                <a:solidFill>
                  <a:srgbClr val="DCE2EC"/>
                </a:solidFill>
                <a:latin typeface="Arial"/>
              </a:rPr>
              <a:t>CEQA, Army Corps &amp; Water Quality Expert</a:t>
            </a:r>
          </a:p>
        </p:txBody>
      </p:sp>
      <p:sp>
        <p:nvSpPr>
          <p:cNvPr id="20" name="Rounded Rectangle 19"/>
          <p:cNvSpPr/>
          <p:nvPr/>
        </p:nvSpPr>
        <p:spPr>
          <a:xfrm>
            <a:off x="5102352" y="1005840"/>
            <a:ext cx="2212848" cy="4224528"/>
          </a:xfrm>
          <a:prstGeom prst="roundRect">
            <a:avLst>
              <a:gd name="adj" fmla="val 3500"/>
            </a:avLst>
          </a:prstGeom>
          <a:solidFill>
            <a:srgbClr val="1B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dane.jpg"/>
          <p:cNvPicPr>
            <a:picLocks noChangeAspect="1"/>
          </p:cNvPicPr>
          <p:nvPr/>
        </p:nvPicPr>
        <p:blipFill>
          <a:blip r:embed="rId4"/>
          <a:stretch>
            <a:fillRect/>
          </a:stretch>
        </p:blipFill>
        <p:spPr>
          <a:xfrm>
            <a:off x="5522976" y="1133856"/>
            <a:ext cx="1371600" cy="1691640"/>
          </a:xfrm>
          <a:prstGeom prst="rect">
            <a:avLst/>
          </a:prstGeom>
        </p:spPr>
      </p:pic>
      <p:sp>
        <p:nvSpPr>
          <p:cNvPr id="22" name="TextBox 21"/>
          <p:cNvSpPr txBox="1"/>
          <p:nvPr/>
        </p:nvSpPr>
        <p:spPr>
          <a:xfrm>
            <a:off x="5248656" y="2935224"/>
            <a:ext cx="1920240" cy="201168"/>
          </a:xfrm>
          <a:prstGeom prst="rect">
            <a:avLst/>
          </a:prstGeom>
          <a:noFill/>
        </p:spPr>
        <p:txBody>
          <a:bodyPr wrap="square" anchor="t" lIns="0" rIns="0" tIns="0" bIns="0">
            <a:spAutoFit/>
          </a:bodyPr>
          <a:lstStyle/>
          <a:p>
            <a:pPr algn="l"/>
            <a:r>
              <a:rPr sz="1150" b="1">
                <a:solidFill>
                  <a:srgbClr val="C9A227"/>
                </a:solidFill>
                <a:latin typeface="Arial"/>
              </a:rPr>
              <a:t>DANE REINHART</a:t>
            </a:r>
          </a:p>
        </p:txBody>
      </p:sp>
      <p:sp>
        <p:nvSpPr>
          <p:cNvPr id="23" name="TextBox 22"/>
          <p:cNvSpPr txBox="1"/>
          <p:nvPr/>
        </p:nvSpPr>
        <p:spPr>
          <a:xfrm>
            <a:off x="5248656" y="3136392"/>
            <a:ext cx="1920240" cy="182880"/>
          </a:xfrm>
          <a:prstGeom prst="rect">
            <a:avLst/>
          </a:prstGeom>
          <a:noFill/>
        </p:spPr>
        <p:txBody>
          <a:bodyPr wrap="square" anchor="t" lIns="0" rIns="0" tIns="0" bIns="0">
            <a:spAutoFit/>
          </a:bodyPr>
          <a:lstStyle/>
          <a:p>
            <a:pPr algn="l"/>
            <a:r>
              <a:rPr sz="900" b="0">
                <a:solidFill>
                  <a:srgbClr val="FFFFFF"/>
                </a:solidFill>
                <a:latin typeface="Arial"/>
              </a:rPr>
              <a:t>VP, Finance</a:t>
            </a:r>
          </a:p>
        </p:txBody>
      </p:sp>
      <p:sp>
        <p:nvSpPr>
          <p:cNvPr id="24" name="Rectangle 23"/>
          <p:cNvSpPr/>
          <p:nvPr/>
        </p:nvSpPr>
        <p:spPr>
          <a:xfrm>
            <a:off x="5248656" y="3355848"/>
            <a:ext cx="1920240" cy="1143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48656" y="3447288"/>
            <a:ext cx="1920240" cy="1143000"/>
          </a:xfrm>
          <a:prstGeom prst="rect">
            <a:avLst/>
          </a:prstGeom>
          <a:noFill/>
        </p:spPr>
        <p:txBody>
          <a:bodyPr wrap="square" anchor="t" lIns="0" rIns="0" tIns="0" bIns="0">
            <a:spAutoFit/>
          </a:bodyPr>
          <a:lstStyle/>
          <a:p>
            <a:pPr algn="l">
              <a:lnSpc>
                <a:spcPct val="112000"/>
              </a:lnSpc>
            </a:pPr>
            <a:r>
              <a:rPr sz="720" b="0">
                <a:solidFill>
                  <a:srgbClr val="DCE2EC"/>
                </a:solidFill>
                <a:latin typeface="Arial"/>
              </a:rPr>
              <a:t>Institutional real estate finance professional with nearly a decade at Hayden Properties, Presidium, and Balboa Real Estate Partners. Led projects totaling $800M+ in transaction volume and 18,000+ units managed. Expert in proforma modeling, Return on Investment analysis, and stakeholder reporting.</a:t>
            </a:r>
          </a:p>
        </p:txBody>
      </p:sp>
      <p:sp>
        <p:nvSpPr>
          <p:cNvPr id="26" name="TextBox 25"/>
          <p:cNvSpPr txBox="1"/>
          <p:nvPr/>
        </p:nvSpPr>
        <p:spPr>
          <a:xfrm>
            <a:off x="5248656" y="4645152"/>
            <a:ext cx="1920240" cy="868680"/>
          </a:xfrm>
          <a:prstGeom prst="rect">
            <a:avLst/>
          </a:prstGeom>
          <a:noFill/>
        </p:spPr>
        <p:txBody>
          <a:bodyPr wrap="square" anchor="t" lIns="0" rIns="0" tIns="0" bIns="0">
            <a:spAutoFit/>
          </a:bodyPr>
          <a:lstStyle/>
          <a:p>
            <a:pPr algn="l">
              <a:lnSpc>
                <a:spcPct val="100000"/>
              </a:lnSpc>
              <a:spcAft>
                <a:spcPts val="250"/>
              </a:spcAft>
            </a:pPr>
            <a:r>
              <a:rPr sz="650" b="0">
                <a:solidFill>
                  <a:srgbClr val="C9A227"/>
                </a:solidFill>
                <a:latin typeface="Arial"/>
              </a:rPr>
              <a:t>●  </a:t>
            </a:r>
            <a:r>
              <a:rPr sz="720" b="0">
                <a:solidFill>
                  <a:srgbClr val="DCE2EC"/>
                </a:solidFill>
                <a:latin typeface="Arial"/>
              </a:rPr>
              <a:t>MS Finance, SMU Cox School of Business</a:t>
            </a:r>
          </a:p>
          <a:p>
            <a:pPr algn="l">
              <a:lnSpc>
                <a:spcPct val="100000"/>
              </a:lnSpc>
              <a:spcAft>
                <a:spcPts val="250"/>
              </a:spcAft>
            </a:pPr>
            <a:r>
              <a:rPr sz="650" b="0">
                <a:solidFill>
                  <a:srgbClr val="C9A227"/>
                </a:solidFill>
                <a:latin typeface="Arial"/>
              </a:rPr>
              <a:t>●  </a:t>
            </a:r>
            <a:r>
              <a:rPr sz="720" b="0">
                <a:solidFill>
                  <a:srgbClr val="DCE2EC"/>
                </a:solidFill>
                <a:latin typeface="Arial"/>
              </a:rPr>
              <a:t>BA Economics, Arizona State University</a:t>
            </a:r>
          </a:p>
          <a:p>
            <a:pPr algn="l">
              <a:lnSpc>
                <a:spcPct val="100000"/>
              </a:lnSpc>
              <a:spcAft>
                <a:spcPts val="250"/>
              </a:spcAft>
            </a:pPr>
            <a:r>
              <a:rPr sz="650" b="0">
                <a:solidFill>
                  <a:srgbClr val="C9A227"/>
                </a:solidFill>
                <a:latin typeface="Arial"/>
              </a:rPr>
              <a:t>●  </a:t>
            </a:r>
            <a:r>
              <a:rPr sz="720" b="0">
                <a:solidFill>
                  <a:srgbClr val="DCE2EC"/>
                </a:solidFill>
                <a:latin typeface="Arial"/>
              </a:rPr>
              <a:t>Acquisitions &amp; Asset Management</a:t>
            </a:r>
          </a:p>
          <a:p>
            <a:pPr algn="l">
              <a:lnSpc>
                <a:spcPct val="100000"/>
              </a:lnSpc>
              <a:spcAft>
                <a:spcPts val="250"/>
              </a:spcAft>
            </a:pPr>
            <a:r>
              <a:rPr sz="650" b="0">
                <a:solidFill>
                  <a:srgbClr val="C9A227"/>
                </a:solidFill>
                <a:latin typeface="Arial"/>
              </a:rPr>
              <a:t>●  </a:t>
            </a:r>
            <a:r>
              <a:rPr sz="720" b="0">
                <a:solidFill>
                  <a:srgbClr val="DCE2EC"/>
                </a:solidFill>
                <a:latin typeface="Arial"/>
              </a:rPr>
              <a:t>Return on Investment &amp; Cash Flow Analysis</a:t>
            </a:r>
          </a:p>
        </p:txBody>
      </p:sp>
      <p:sp>
        <p:nvSpPr>
          <p:cNvPr id="27" name="TextBox 26"/>
          <p:cNvSpPr txBox="1"/>
          <p:nvPr/>
        </p:nvSpPr>
        <p:spPr>
          <a:xfrm>
            <a:off x="502920" y="5340096"/>
            <a:ext cx="6766560" cy="237744"/>
          </a:xfrm>
          <a:prstGeom prst="rect">
            <a:avLst/>
          </a:prstGeom>
          <a:noFill/>
        </p:spPr>
        <p:txBody>
          <a:bodyPr wrap="square" anchor="t" lIns="0" rIns="0" tIns="0" bIns="0">
            <a:spAutoFit/>
          </a:bodyPr>
          <a:lstStyle/>
          <a:p>
            <a:pPr algn="ctr"/>
            <a:r>
              <a:rPr sz="1150" b="1">
                <a:solidFill>
                  <a:srgbClr val="C9A227"/>
                </a:solidFill>
                <a:latin typeface="Arial"/>
              </a:rPr>
              <a:t>CURRENT &amp; RECENT PROJECTS — APPROVED SUBDIVISION MAPS</a:t>
            </a:r>
          </a:p>
        </p:txBody>
      </p:sp>
      <p:pic>
        <p:nvPicPr>
          <p:cNvPr id="28" name="Picture 27" descr="proj1.jpg"/>
          <p:cNvPicPr>
            <a:picLocks noChangeAspect="1"/>
          </p:cNvPicPr>
          <p:nvPr/>
        </p:nvPicPr>
        <p:blipFill>
          <a:blip r:embed="rId5"/>
          <a:stretch>
            <a:fillRect/>
          </a:stretch>
        </p:blipFill>
        <p:spPr>
          <a:xfrm>
            <a:off x="502920" y="5650992"/>
            <a:ext cx="1627632" cy="1389888"/>
          </a:xfrm>
          <a:prstGeom prst="rect">
            <a:avLst/>
          </a:prstGeom>
          <a:ln w="9525">
            <a:solidFill>
              <a:srgbClr val="4A5A75"/>
            </a:solidFill>
          </a:ln>
        </p:spPr>
      </p:pic>
      <p:pic>
        <p:nvPicPr>
          <p:cNvPr id="29" name="Picture 28" descr="proj2.jpg"/>
          <p:cNvPicPr>
            <a:picLocks noChangeAspect="1"/>
          </p:cNvPicPr>
          <p:nvPr/>
        </p:nvPicPr>
        <p:blipFill>
          <a:blip r:embed="rId6"/>
          <a:stretch>
            <a:fillRect/>
          </a:stretch>
        </p:blipFill>
        <p:spPr>
          <a:xfrm>
            <a:off x="2221992" y="5650992"/>
            <a:ext cx="1627632" cy="1389888"/>
          </a:xfrm>
          <a:prstGeom prst="rect">
            <a:avLst/>
          </a:prstGeom>
          <a:ln w="9525">
            <a:solidFill>
              <a:srgbClr val="4A5A75"/>
            </a:solidFill>
          </a:ln>
        </p:spPr>
      </p:pic>
      <p:pic>
        <p:nvPicPr>
          <p:cNvPr id="30" name="Picture 29" descr="proj3.jpg"/>
          <p:cNvPicPr>
            <a:picLocks noChangeAspect="1"/>
          </p:cNvPicPr>
          <p:nvPr/>
        </p:nvPicPr>
        <p:blipFill>
          <a:blip r:embed="rId7"/>
          <a:stretch>
            <a:fillRect/>
          </a:stretch>
        </p:blipFill>
        <p:spPr>
          <a:xfrm>
            <a:off x="3941064" y="5650992"/>
            <a:ext cx="1627632" cy="1389888"/>
          </a:xfrm>
          <a:prstGeom prst="rect">
            <a:avLst/>
          </a:prstGeom>
          <a:ln w="9525">
            <a:solidFill>
              <a:srgbClr val="4A5A75"/>
            </a:solidFill>
          </a:ln>
        </p:spPr>
      </p:pic>
      <p:pic>
        <p:nvPicPr>
          <p:cNvPr id="31" name="Picture 30" descr="proj4.jpg"/>
          <p:cNvPicPr>
            <a:picLocks noChangeAspect="1"/>
          </p:cNvPicPr>
          <p:nvPr/>
        </p:nvPicPr>
        <p:blipFill>
          <a:blip r:embed="rId8"/>
          <a:stretch>
            <a:fillRect/>
          </a:stretch>
        </p:blipFill>
        <p:spPr>
          <a:xfrm>
            <a:off x="5660136" y="5650992"/>
            <a:ext cx="1627632" cy="1389888"/>
          </a:xfrm>
          <a:prstGeom prst="rect">
            <a:avLst/>
          </a:prstGeom>
          <a:ln w="9525">
            <a:solidFill>
              <a:srgbClr val="4A5A75"/>
            </a:solidFill>
          </a:ln>
        </p:spPr>
      </p:pic>
      <p:sp>
        <p:nvSpPr>
          <p:cNvPr id="32" name="TextBox 31"/>
          <p:cNvSpPr txBox="1"/>
          <p:nvPr/>
        </p:nvSpPr>
        <p:spPr>
          <a:xfrm>
            <a:off x="502920" y="7315200"/>
            <a:ext cx="6766560" cy="914400"/>
          </a:xfrm>
          <a:prstGeom prst="rect">
            <a:avLst/>
          </a:prstGeom>
          <a:noFill/>
        </p:spPr>
        <p:txBody>
          <a:bodyPr wrap="square" anchor="t" lIns="0" rIns="0" tIns="0" bIns="0">
            <a:spAutoFit/>
          </a:bodyPr>
          <a:lstStyle/>
          <a:p>
            <a:pPr algn="ctr">
              <a:lnSpc>
                <a:spcPct val="120000"/>
              </a:lnSpc>
            </a:pPr>
            <a:r>
              <a:rPr sz="700" b="0">
                <a:solidFill>
                  <a:srgbClr val="A9B4C6"/>
                </a:solidFill>
                <a:latin typeface="Arial"/>
              </a:rPr>
              <a:t>This material is for informational purposes only and does not constitute an offer to sell or a solicitation of an offer to buy any security. Investment in real estate involves risk, including the possible loss of principal. Past performance is not indicative of future results. Returns referenced are targets and not guaranteed. All investments are made through a Single Entity LLC (SELLC); investors are Members of the SELLC with proportionate rights. Prospective investors should conduct their own due diligence and consult with legal, tax, and financial advisors before investing. TrendAmerica LLC is not a registered broker-dealer or investment adviser.</a:t>
            </a:r>
          </a:p>
        </p:txBody>
      </p:sp>
      <p:sp>
        <p:nvSpPr>
          <p:cNvPr id="33" name="Rectangle 32"/>
          <p:cNvSpPr/>
          <p:nvPr/>
        </p:nvSpPr>
        <p:spPr>
          <a:xfrm>
            <a:off x="0" y="9006840"/>
            <a:ext cx="7772400" cy="10515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0" y="9116568"/>
            <a:ext cx="7772400" cy="411480"/>
          </a:xfrm>
          <a:prstGeom prst="rect">
            <a:avLst/>
          </a:prstGeom>
          <a:noFill/>
        </p:spPr>
        <p:txBody>
          <a:bodyPr wrap="square" anchor="t" lIns="0" rIns="0" tIns="0" bIns="0">
            <a:spAutoFit/>
          </a:bodyPr>
          <a:lstStyle/>
          <a:p>
            <a:pPr algn="ctr"/>
            <a:r>
              <a:rPr sz="2400" b="1">
                <a:solidFill>
                  <a:srgbClr val="0D2847"/>
                </a:solidFill>
                <a:latin typeface="Arial"/>
              </a:rPr>
              <a:t>READY TO INVEST?</a:t>
            </a:r>
          </a:p>
        </p:txBody>
      </p:sp>
      <p:sp>
        <p:nvSpPr>
          <p:cNvPr id="35" name="TextBox 34"/>
          <p:cNvSpPr txBox="1"/>
          <p:nvPr/>
        </p:nvSpPr>
        <p:spPr>
          <a:xfrm>
            <a:off x="0" y="9528048"/>
            <a:ext cx="7772400" cy="329184"/>
          </a:xfrm>
          <a:prstGeom prst="rect">
            <a:avLst/>
          </a:prstGeom>
          <a:noFill/>
        </p:spPr>
        <p:txBody>
          <a:bodyPr wrap="square" anchor="t" lIns="0" rIns="0" tIns="0" bIns="0">
            <a:spAutoFit/>
          </a:bodyPr>
          <a:lstStyle/>
          <a:p>
            <a:pPr algn="ctr"/>
            <a:r>
              <a:rPr sz="1900" b="1">
                <a:solidFill>
                  <a:srgbClr val="0D2847"/>
                </a:solidFill>
                <a:latin typeface="Arial"/>
              </a:rPr>
              <a:t>VISIT  www.TrendAmericaLand.com</a:t>
            </a:r>
          </a:p>
        </p:txBody>
      </p:sp>
      <p:sp>
        <p:nvSpPr>
          <p:cNvPr id="36" name="TextBox 35"/>
          <p:cNvSpPr txBox="1"/>
          <p:nvPr/>
        </p:nvSpPr>
        <p:spPr>
          <a:xfrm>
            <a:off x="0" y="9857232"/>
            <a:ext cx="7772400" cy="182880"/>
          </a:xfrm>
          <a:prstGeom prst="rect">
            <a:avLst/>
          </a:prstGeom>
          <a:noFill/>
        </p:spPr>
        <p:txBody>
          <a:bodyPr wrap="square" anchor="t" lIns="0" rIns="0" tIns="0" bIns="0">
            <a:spAutoFit/>
          </a:bodyPr>
          <a:lstStyle/>
          <a:p>
            <a:pPr algn="ctr"/>
            <a:r>
              <a:rPr sz="850" b="0">
                <a:solidFill>
                  <a:srgbClr val="0D2847"/>
                </a:solidFill>
                <a:latin typeface="Arial"/>
              </a:rPr>
              <a:t>TrendAmericaLand LLC  •  California Residential Land Development  •  info@TrendAmericaLand.com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